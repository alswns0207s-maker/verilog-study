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098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HW1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Adder 8bit 설계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Basys-3  8bit Full Adder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검증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5623560"/>
            <a:ext cx="0" cy="502920"/>
          </a:xfrm>
          <a:prstGeom prst="line">
            <a:avLst/>
          </a:prstGeom>
          <a:noFill/>
          <a:ln w="12700">
            <a:solidFill>
              <a:srgbClr val="3A4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669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김민준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2026-07-19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 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2020.2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개요 · 목적과 결과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Basys-3(Artix-7) </a:t>
            </a:r>
            <a:r>
              <a:rPr lang="en-US" sz="13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보드에서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하는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8bit full </a:t>
            </a:r>
            <a:r>
              <a:rPr lang="en-US" sz="13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adder를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half_adder부터bottom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</a:t>
            </a:r>
            <a:r>
              <a:rPr lang="ko-KR" alt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방식으로 설계 하고 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testbench</a:t>
            </a:r>
            <a:r>
              <a:rPr lang="ko-KR" alt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통해 통합 검증을 </a:t>
            </a:r>
            <a:r>
              <a:rPr lang="ko-KR" altLang="en-US" sz="135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진행하고자함</a:t>
            </a: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04223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요약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115703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half_adder → full_adder → full_adder_4bit → full_adder_8bit 4단계 계층 구조로 설계 완료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입력포트에 관하여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발생하는 특정 포인트를 파악하여  부분 검증을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파형을 통해 확인하였다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top</a:t>
            </a:r>
            <a:r>
              <a:rPr lang="ko-KR" alt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 설계 </a:t>
            </a: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(half_adder → full_adder_8bit)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19800" y="1791681"/>
            <a:ext cx="5577840" cy="3457518"/>
          </a:xfrm>
          <a:prstGeom prst="roundRect">
            <a:avLst>
              <a:gd name="adj" fmla="val 181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434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32067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half_adder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25840" y="2505817"/>
            <a:ext cx="274320" cy="182880"/>
          </a:xfrm>
          <a:prstGeom prst="rightArrow">
            <a:avLst/>
          </a:prstGeom>
          <a:solidFill>
            <a:srgbClr val="9FB2E0"/>
          </a:solidFill>
          <a:ln w="12700">
            <a:solidFill>
              <a:srgbClr val="9FB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0" y="31906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18220" y="4000500"/>
            <a:ext cx="274320" cy="182880"/>
          </a:xfrm>
          <a:prstGeom prst="rightArrow">
            <a:avLst/>
          </a:prstGeom>
          <a:solidFill>
            <a:srgbClr val="9FB2E0"/>
          </a:solidFill>
          <a:ln w="12700">
            <a:solidFill>
              <a:srgbClr val="9FB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840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90" dirty="0"/>
          </a:p>
        </p:txBody>
      </p:sp>
      <p:sp>
        <p:nvSpPr>
          <p:cNvPr id="25" name="Text 23"/>
          <p:cNvSpPr/>
          <p:nvPr/>
        </p:nvSpPr>
        <p:spPr>
          <a:xfrm>
            <a:off x="6869430" y="4847429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full_adder_4bit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1277600" y="2583902"/>
            <a:ext cx="274320" cy="182880"/>
          </a:xfrm>
          <a:prstGeom prst="rightArrow">
            <a:avLst/>
          </a:prstGeom>
          <a:solidFill>
            <a:srgbClr val="9FB2E0"/>
          </a:solidFill>
          <a:ln w="12700">
            <a:solidFill>
              <a:srgbClr val="9FB2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34290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25613" y="47838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full_adder_8bit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B49402-66F8-5AF6-601F-95853A8A4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06707"/>
            <a:ext cx="1996440" cy="1181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6FB499-7453-711F-34C0-B81D47D7E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520" y="2029206"/>
            <a:ext cx="2075747" cy="11811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D9B4497-FD7C-7B73-21E9-AE3DEE9A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3538751"/>
            <a:ext cx="1996440" cy="11740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54EBE4CF-C5D9-B773-FAC3-24D75AE60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6033" y="3512036"/>
            <a:ext cx="2013234" cy="1200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개요 · 설계 진행 절차 (Flow Chart)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880360"/>
            <a:ext cx="1889760" cy="1005840"/>
          </a:xfrm>
          <a:prstGeom prst="chevron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880360"/>
            <a:ext cx="147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스펙 정의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49631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73808" y="2880360"/>
            <a:ext cx="1889760" cy="1005840"/>
          </a:xfrm>
          <a:prstGeom prst="chevron">
            <a:avLst/>
          </a:prstGeom>
          <a:solidFill>
            <a:srgbClr val="3E5A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0968" y="2880360"/>
            <a:ext cx="147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진리표 작성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19528" y="249631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952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98976" y="2880360"/>
            <a:ext cx="1889760" cy="1005840"/>
          </a:xfrm>
          <a:prstGeom prst="chevron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36136" y="2880360"/>
            <a:ext cx="147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논리식 도출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44696" y="249631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4696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24144" y="2880360"/>
            <a:ext cx="1889760" cy="1005840"/>
          </a:xfrm>
          <a:prstGeom prst="chevron">
            <a:avLst/>
          </a:prstGeom>
          <a:solidFill>
            <a:srgbClr val="3E5A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61304" y="2880360"/>
            <a:ext cx="147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구현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769864" y="249631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49312" y="2880360"/>
            <a:ext cx="1889760" cy="1005840"/>
          </a:xfrm>
          <a:prstGeom prst="chevron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7432" y="2880360"/>
            <a:ext cx="147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테스트벤치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95032" y="249631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5032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74480" y="2880360"/>
            <a:ext cx="1889760" cy="1005840"/>
          </a:xfrm>
          <a:prstGeom prst="chevron">
            <a:avLst/>
          </a:prstGeom>
          <a:solidFill>
            <a:srgbClr val="3E5A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70720" y="2880360"/>
            <a:ext cx="1478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검증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20200" y="2496312"/>
            <a:ext cx="365760" cy="36576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02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280160" y="4434840"/>
            <a:ext cx="9601200" cy="822960"/>
          </a:xfrm>
          <a:prstGeom prst="roundRect">
            <a:avLst>
              <a:gd name="adj" fmla="val 8889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452628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half_adder → full_adder → full_adder_4bit → full_adder_8bit — 위 6단계를 계층마다 반복 적용하여, 아래 계층이 검증된 뒤에만 위 계층으로 진행하는 상향식(Bottom-Up) 방식으로 설계함.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1 · half_adder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13859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진리표 &amp; 로직식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17412"/>
              </p:ext>
            </p:extLst>
          </p:nvPr>
        </p:nvGraphicFramePr>
        <p:xfrm>
          <a:off x="576072" y="2183693"/>
          <a:ext cx="3474720" cy="15544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90779" y="4648499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a ^ b   (XOR)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a &amp; b   (AND)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43400" y="1813859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(half_adder.v)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2179619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2162E"/>
          </a:solidFill>
          <a:ln w="12700">
            <a:solidFill>
              <a:srgbClr val="121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07992" y="2307635"/>
            <a:ext cx="309981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half_adder(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 a, b,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s, c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 s = a ^ b;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 c = a &amp; b;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0" y="1813859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 구성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2179619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2F6BA23-F632-F1BD-C776-2CEFAEA0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406498"/>
            <a:ext cx="3261360" cy="19294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2 · full_adder (1bit)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half_adder 2개 + OR 게이트로 구성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HA1: a, b → s1, c1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HA2: s1, cin → s, c2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c1 | c2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43400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(full_adder.v)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12162E"/>
          </a:solidFill>
          <a:ln w="12700">
            <a:solidFill>
              <a:srgbClr val="121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728216"/>
            <a:ext cx="309981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full_adder(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a, b, cin,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s, c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s1, c1, c2;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 c = c1 | c2;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half_adder HA1(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.a(a), .b(b),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.s(s1), .c(c1));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half_adder HA2(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.a(s1), .b(cin),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.s(s), .c(c2));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288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4444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385816"/>
            <a:ext cx="106070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HA2 입력 배선 실수 (수정 이력)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초기 작성 시 HA2의 첫 입력을 .a(a)로 연결해 b가 최종 합에 반영되지 않는 오류가 있었음. HA1의 출력 s1을 다시 HA2에 넣어야 하므로 .a(s1)로 수정하여 해결함.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83112B8-88C9-9A7F-1855-FF06FE08E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554480"/>
            <a:ext cx="3398520" cy="22722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3 · full_adder_4bit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 4개를 리플 캐리 방식으로 체인 연결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FA1의 carry-out(c1) → FA2의 cin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FA2→FA3(c2), FA3→FA4(c3) 동일하게 전파</a:t>
            </a:r>
            <a:endParaRPr lang="en-US" sz="130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FA4의 carry-out이 모듈 출력 c (최종 캐리)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43400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(full_adder_4bit.v, 발췌)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12162E"/>
          </a:solidFill>
          <a:ln w="12700">
            <a:solidFill>
              <a:srgbClr val="121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728216"/>
            <a:ext cx="309981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full_adder_4bit(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[3:0] a, b,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cin,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[3:0] s,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c);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c1, c2, c3;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full_adder FA1(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.a(a[0]),.b(b[0]),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.cin(cin),           //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.s(s[0]),.c(c1));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FA2 / FA3 / FA4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566160" cy="3063240"/>
          </a:xfrm>
          <a:prstGeom prst="roundRect">
            <a:avLst>
              <a:gd name="adj" fmla="val 238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3871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157216"/>
            <a:ext cx="10607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- 8bit full adder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를 설계시에 문제가 됨</a:t>
            </a:r>
            <a:r>
              <a:rPr lang="en-US" altLang="ko-KR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FA1의 cin이 모듈 입력 cin을 쓰지 않고 1'b0으로 고정되어 있었음 → 상위 계층에서 넘겨주는 carry-in이 무시되어 8비트로 확장 시 니블(4비트) 간 캐리가 끊기는 문제로 이어짐. .cin(cin)으로 수정.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F7DC68A7-A122-CDE0-3613-2B6B74E08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920" y="2148840"/>
            <a:ext cx="3489960" cy="1670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4 · full_adder_8bit (Top)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full_adder_4bit 2개를 체인 연결한 top 모듈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FA4_1: 하위 니블 a[3:0]+b[3:0], cin=1'b0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FA4_1의 carry-out(c_mid) → FA4_2의 cin</a:t>
            </a:r>
            <a:endParaRPr lang="en-US" sz="1250" dirty="0"/>
          </a:p>
          <a:p>
            <a:pPr marL="342900" indent="-342900" algn="l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FA4_2: 상위 니블 a[7:4]+b[7:4], carry-out=co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343400" y="1234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(full_adder_8bit.v)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429000" cy="3063240"/>
          </a:xfrm>
          <a:prstGeom prst="roundRect">
            <a:avLst>
              <a:gd name="adj" fmla="val 2388"/>
            </a:avLst>
          </a:prstGeom>
          <a:solidFill>
            <a:srgbClr val="12162E"/>
          </a:solidFill>
          <a:ln w="12700">
            <a:solidFill>
              <a:srgbClr val="121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728216"/>
            <a:ext cx="309981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full_adder_8bit(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 [7:0] a, b,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[7:0] s,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c);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 c_mid;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full_adder_4bit FA4_1(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.a(a[3:0]),.b(b[3:0]),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.cin(1'b0),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.s(s[3:0]),.c(c_mid));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full_adder_4bit FA4_2(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.a(a[7:4]),.b(b[7:4]),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.cin(c_mid),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.s(s[7:4]),.c(c));</a:t>
            </a:r>
            <a:endParaRPr lang="en-US" sz="1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566160" cy="3063240"/>
          </a:xfrm>
          <a:prstGeom prst="roundRect">
            <a:avLst>
              <a:gd name="adj" fmla="val 2388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29200"/>
            <a:ext cx="11064240" cy="1417320"/>
          </a:xfrm>
          <a:prstGeom prst="roundRect">
            <a:avLst>
              <a:gd name="adj" fmla="val 3871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57216"/>
            <a:ext cx="10607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FA4_2 </a:t>
            </a:r>
            <a:r>
              <a:rPr lang="en-US" sz="13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인덱스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실수</a:t>
            </a:r>
            <a:endParaRPr lang="en-US" sz="13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FA4_1을 복사해 FA4_2를 만들면서 a[3:0]/b[3:0]/s[3:0] 인덱스를 그대로 둔 실수가 있었음 → 상위 4비트(a[7:4], b[7:4])가 회로에 연결되지 않고 s[3:0]에 두 인스턴스가 동시에 값을 몰아주는 충돌이 발생. a[7:4]/b[7:4]/s[7:4]로 수정.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42CABD8-3B71-6D0E-1246-E93CE1AC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45920"/>
            <a:ext cx="3566160" cy="2125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시뮬레이션 · 테스트벤치 구조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방식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for문으로 a, b의 모든 조합을 순차 생성 (0~255 × 0~255)</a:t>
            </a:r>
            <a:endParaRPr lang="en-US" sz="1300" dirty="0"/>
          </a:p>
          <a:p>
            <a:pPr marL="342900" indent="-342900" algn="l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조합을 10ns씩 유지한 뒤 I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랑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루프에 따라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r>
              <a:rPr lang="ko-KR" altLang="en-US" sz="13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씩하며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값을 늘림</a:t>
            </a:r>
            <a:endParaRPr lang="en-US" altLang="ko-KR" sz="1300" dirty="0">
              <a:solidFill>
                <a:srgbClr val="4A4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 algn="l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파형으로 </a:t>
            </a:r>
            <a:r>
              <a:rPr lang="ko-KR" altLang="en-US" sz="1300" dirty="0" err="1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부터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잘 늘어나는지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정상 출력이 되는지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r>
              <a:rPr lang="ko-KR" alt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되는 부분을 집중적으로 본다</a:t>
            </a:r>
            <a:r>
              <a:rPr lang="en-US" altLang="ko-KR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 algn="l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5212080"/>
            <a:ext cx="5120640" cy="10058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56311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 실행시간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약 655,360ns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(tb_full_adder_8bit.v)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577840" cy="4617720"/>
          </a:xfrm>
          <a:prstGeom prst="roundRect">
            <a:avLst>
              <a:gd name="adj" fmla="val 1584"/>
            </a:avLst>
          </a:prstGeom>
          <a:solidFill>
            <a:srgbClr val="12162E"/>
          </a:solidFill>
          <a:ln w="12700">
            <a:solidFill>
              <a:srgbClr val="121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728216"/>
            <a:ext cx="5248656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tb_full_adder_8bit();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  [7:0] a, b;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wire [7:0] s;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wire       c;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integer i, j;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full_adder_8bit dut(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.a(a), .b(b), .s(s), .c(c));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 begin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 = 8'b0; b = 8'b0; #10;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 = 0; i &lt; 256; i = i + 1) begin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(j = 0; j &lt; 256; j = j + 1) begin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 = i;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 = j;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#10;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end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$finish;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1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C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 · Full Adder 8bit 설계 · 김민준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시뮬레이션 · 파형 확인 및 결과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3441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설정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/>
              <a:t>Unsigned </a:t>
            </a:r>
            <a:r>
              <a:rPr lang="en-US" sz="1150" dirty="0" err="1"/>
              <a:t>Desimal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3E5AB8"/>
          </a:solidFill>
          <a:ln w="12700">
            <a:solidFill>
              <a:srgbClr val="3E5A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395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Fit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7157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50" dirty="0">
                <a:latin typeface="Calibri" pitchFamily="34" charset="0"/>
                <a:cs typeface="Calibri" pitchFamily="34" charset="-120"/>
              </a:rPr>
              <a:t>초기 설정으로 </a:t>
            </a:r>
            <a:r>
              <a:rPr lang="en-US" altLang="ko-KR" sz="1150" dirty="0">
                <a:latin typeface="Calibri" pitchFamily="34" charset="0"/>
                <a:cs typeface="Calibri" pitchFamily="34" charset="-120"/>
              </a:rPr>
              <a:t>simulation</a:t>
            </a:r>
            <a:r>
              <a:rPr lang="ko-KR" altLang="en-US" sz="1150" dirty="0">
                <a:latin typeface="Calibri" pitchFamily="34" charset="0"/>
                <a:cs typeface="Calibri" pitchFamily="34" charset="-120"/>
              </a:rPr>
              <a:t>결과 </a:t>
            </a:r>
            <a:r>
              <a:rPr lang="en-US" altLang="ko-KR" sz="1150" dirty="0">
                <a:latin typeface="Calibri" pitchFamily="34" charset="0"/>
                <a:cs typeface="Calibri" pitchFamily="34" charset="-120"/>
              </a:rPr>
              <a:t>1000ns</a:t>
            </a:r>
            <a:r>
              <a:rPr lang="ko-KR" altLang="en-US" sz="1150" dirty="0">
                <a:latin typeface="Calibri" pitchFamily="34" charset="0"/>
                <a:cs typeface="Calibri" pitchFamily="34" charset="-120"/>
              </a:rPr>
              <a:t>까지만 출력이 되어서 </a:t>
            </a:r>
            <a:r>
              <a:rPr lang="en-US" altLang="ko-KR" sz="1150" dirty="0">
                <a:latin typeface="Calibri" pitchFamily="34" charset="0"/>
                <a:cs typeface="Calibri" pitchFamily="34" charset="-120"/>
              </a:rPr>
              <a:t>655350ns</a:t>
            </a:r>
            <a:r>
              <a:rPr lang="ko-KR" altLang="en-US" sz="1150" dirty="0">
                <a:latin typeface="Calibri" pitchFamily="34" charset="0"/>
                <a:cs typeface="Calibri" pitchFamily="34" charset="-120"/>
              </a:rPr>
              <a:t>로 수정하여 출력확인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4472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지점 확인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7673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50" dirty="0"/>
              <a:t>연산 결과가 </a:t>
            </a:r>
            <a:r>
              <a:rPr lang="en-US" altLang="ko-KR" sz="1150" dirty="0"/>
              <a:t>carry</a:t>
            </a:r>
            <a:r>
              <a:rPr lang="ko-KR" altLang="en-US" sz="1150" dirty="0"/>
              <a:t>발생하는 부분</a:t>
            </a:r>
            <a:r>
              <a:rPr lang="en-US" altLang="ko-KR" sz="1150" dirty="0"/>
              <a:t>(</a:t>
            </a:r>
            <a:r>
              <a:rPr lang="ko-KR" altLang="en-US" sz="1150" dirty="0"/>
              <a:t>특이케이스</a:t>
            </a:r>
            <a:r>
              <a:rPr lang="en-US" altLang="ko-KR" sz="1150" dirty="0"/>
              <a:t>)</a:t>
            </a:r>
            <a:r>
              <a:rPr lang="ko-KR" altLang="en-US" sz="1150" dirty="0"/>
              <a:t>를 확인 후 </a:t>
            </a:r>
            <a:r>
              <a:rPr lang="ko-KR" altLang="en-US" sz="1150" dirty="0" err="1"/>
              <a:t>출려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3E5AB8"/>
          </a:solidFill>
          <a:ln w="12700">
            <a:solidFill>
              <a:srgbClr val="3E5A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498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변수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8188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/>
              <a:t>I, J, a, b, s, c</a:t>
            </a:r>
          </a:p>
        </p:txBody>
      </p:sp>
      <p:sp>
        <p:nvSpPr>
          <p:cNvPr id="19" name="Text 17"/>
          <p:cNvSpPr/>
          <p:nvPr/>
        </p:nvSpPr>
        <p:spPr>
          <a:xfrm>
            <a:off x="5836920" y="632377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Full_adder_8bit</a:t>
            </a:r>
            <a:r>
              <a:rPr lang="ko-KR" altLang="en-US" sz="1300" dirty="0"/>
              <a:t>의 </a:t>
            </a:r>
            <a:r>
              <a:rPr lang="en-US" altLang="ko-KR" sz="1300" dirty="0"/>
              <a:t>testbench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67400" y="4267200"/>
            <a:ext cx="6156960" cy="2011680"/>
          </a:xfrm>
          <a:prstGeom prst="roundRect">
            <a:avLst>
              <a:gd name="adj" fmla="val 2712"/>
            </a:avLst>
          </a:prstGeom>
          <a:solidFill>
            <a:srgbClr val="F3F6FC"/>
          </a:solidFill>
          <a:ln w="12700">
            <a:solidFill>
              <a:srgbClr val="F3F6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Text 30"/>
          <p:cNvSpPr/>
          <p:nvPr/>
        </p:nvSpPr>
        <p:spPr>
          <a:xfrm>
            <a:off x="5966861" y="4325038"/>
            <a:ext cx="5508859" cy="2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66890" y="4469032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 · Full Adder 8bit 설계 · 김민준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FFC4AF65-919A-6478-9BDD-2EBCD2E2F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920" y="1007290"/>
            <a:ext cx="6187440" cy="1269566"/>
          </a:xfrm>
          <a:prstGeom prst="rect">
            <a:avLst/>
          </a:prstGeom>
        </p:spPr>
      </p:pic>
      <p:sp>
        <p:nvSpPr>
          <p:cNvPr id="42" name="타원 41">
            <a:extLst>
              <a:ext uri="{FF2B5EF4-FFF2-40B4-BE49-F238E27FC236}">
                <a16:creationId xmlns:a16="http://schemas.microsoft.com/office/drawing/2014/main" id="{9DCF13EC-33A4-C56D-8D07-D3C0BE586953}"/>
              </a:ext>
            </a:extLst>
          </p:cNvPr>
          <p:cNvSpPr/>
          <p:nvPr/>
        </p:nvSpPr>
        <p:spPr>
          <a:xfrm>
            <a:off x="11130330" y="1700784"/>
            <a:ext cx="345390" cy="427255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06AB08FD-3AD9-452A-F8AE-FCE19087F169}"/>
              </a:ext>
            </a:extLst>
          </p:cNvPr>
          <p:cNvSpPr/>
          <p:nvPr/>
        </p:nvSpPr>
        <p:spPr>
          <a:xfrm>
            <a:off x="5966861" y="5070569"/>
            <a:ext cx="5508859" cy="2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1. Figure 1</a:t>
            </a:r>
            <a:r>
              <a:rPr lang="ko-KR" altLang="en-US" sz="1400" dirty="0"/>
              <a:t>에서</a:t>
            </a:r>
            <a:r>
              <a:rPr lang="en-US" altLang="ko-KR" sz="1400" dirty="0"/>
              <a:t>a=1, b=255</a:t>
            </a:r>
            <a:r>
              <a:rPr lang="ko-KR" altLang="en-US" sz="1400" dirty="0"/>
              <a:t>일 경우에 합산이 </a:t>
            </a:r>
            <a:r>
              <a:rPr lang="en-US" altLang="ko-KR" sz="1400" dirty="0"/>
              <a:t>256</a:t>
            </a:r>
            <a:r>
              <a:rPr lang="ko-KR" altLang="en-US" sz="1400" dirty="0"/>
              <a:t>으로 </a:t>
            </a:r>
            <a:r>
              <a:rPr lang="en-US" altLang="ko-KR" sz="1400" dirty="0"/>
              <a:t>8bit</a:t>
            </a:r>
            <a:r>
              <a:rPr lang="ko-KR" altLang="en-US" sz="1400" dirty="0"/>
              <a:t>기준으로 </a:t>
            </a:r>
            <a:r>
              <a:rPr lang="en-US" altLang="ko-KR" sz="1400" dirty="0"/>
              <a:t>carry</a:t>
            </a:r>
            <a:r>
              <a:rPr lang="ko-KR" altLang="en-US" sz="1400" dirty="0"/>
              <a:t>발생하는 지점 확인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sz="1400" dirty="0"/>
              <a:t> </a:t>
            </a:r>
          </a:p>
        </p:txBody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F2F4734A-D7C3-3DDE-D216-B79BD48FF998}"/>
              </a:ext>
            </a:extLst>
          </p:cNvPr>
          <p:cNvSpPr/>
          <p:nvPr/>
        </p:nvSpPr>
        <p:spPr>
          <a:xfrm>
            <a:off x="5867400" y="2282915"/>
            <a:ext cx="5508859" cy="2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figure1.</a:t>
            </a:r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EF530FAB-5D5C-BC53-3D0B-1C87782A6C6E}"/>
              </a:ext>
            </a:extLst>
          </p:cNvPr>
          <p:cNvSpPr/>
          <p:nvPr/>
        </p:nvSpPr>
        <p:spPr>
          <a:xfrm>
            <a:off x="5867400" y="3698349"/>
            <a:ext cx="5508859" cy="2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/>
              <a:t>figure2.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FBDA0D27-B17D-C1CC-7118-5EA3DFE1C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920" y="2498065"/>
            <a:ext cx="6187440" cy="1200284"/>
          </a:xfrm>
          <a:prstGeom prst="rect">
            <a:avLst/>
          </a:prstGeom>
        </p:spPr>
      </p:pic>
      <p:sp>
        <p:nvSpPr>
          <p:cNvPr id="44" name="타원 43">
            <a:extLst>
              <a:ext uri="{FF2B5EF4-FFF2-40B4-BE49-F238E27FC236}">
                <a16:creationId xmlns:a16="http://schemas.microsoft.com/office/drawing/2014/main" id="{9013F177-4CA9-3DF0-E8D8-50DCB9E11E1D}"/>
              </a:ext>
            </a:extLst>
          </p:cNvPr>
          <p:cNvSpPr/>
          <p:nvPr/>
        </p:nvSpPr>
        <p:spPr>
          <a:xfrm>
            <a:off x="11102340" y="2992601"/>
            <a:ext cx="601980" cy="427255"/>
          </a:xfrm>
          <a:prstGeom prst="ellipse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 30">
            <a:extLst>
              <a:ext uri="{FF2B5EF4-FFF2-40B4-BE49-F238E27FC236}">
                <a16:creationId xmlns:a16="http://schemas.microsoft.com/office/drawing/2014/main" id="{FA59834F-7AA7-E683-2B17-4FC4E85890E2}"/>
              </a:ext>
            </a:extLst>
          </p:cNvPr>
          <p:cNvSpPr/>
          <p:nvPr/>
        </p:nvSpPr>
        <p:spPr>
          <a:xfrm>
            <a:off x="5966861" y="5803318"/>
            <a:ext cx="5508859" cy="271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/>
              <a:t>1. Figure 2</a:t>
            </a:r>
            <a:r>
              <a:rPr lang="ko-KR" altLang="en-US" sz="1400" dirty="0"/>
              <a:t>에서</a:t>
            </a:r>
            <a:r>
              <a:rPr lang="en-US" altLang="ko-KR" sz="1400" dirty="0"/>
              <a:t>a=2, b=254</a:t>
            </a:r>
            <a:r>
              <a:rPr lang="ko-KR" altLang="en-US" sz="1400" dirty="0"/>
              <a:t>일 경우에 합산이 </a:t>
            </a:r>
            <a:r>
              <a:rPr lang="en-US" altLang="ko-KR" sz="1400" dirty="0"/>
              <a:t>256</a:t>
            </a:r>
            <a:r>
              <a:rPr lang="ko-KR" altLang="en-US" sz="1400" dirty="0"/>
              <a:t>으로 </a:t>
            </a:r>
            <a:r>
              <a:rPr lang="en-US" altLang="ko-KR" sz="1400" dirty="0"/>
              <a:t>8bit</a:t>
            </a:r>
            <a:r>
              <a:rPr lang="ko-KR" altLang="en-US" sz="1400" dirty="0"/>
              <a:t>기준으로 </a:t>
            </a:r>
            <a:r>
              <a:rPr lang="en-US" altLang="ko-KR" sz="1400" dirty="0"/>
              <a:t>carry</a:t>
            </a:r>
            <a:r>
              <a:rPr lang="ko-KR" altLang="en-US" sz="1400" dirty="0"/>
              <a:t>발생하는 지점 확인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및 고찰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021" y="1128521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5021" y="1585721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half_adder → full_adder → full_adder_4bit → full_adder_8bit 순으로 계층적으로 설계하고, 각 계층을 시뮬레이션으로 검증하며 상위 계층으로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진행하여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8bit full </a:t>
            </a:r>
            <a:r>
              <a:rPr lang="en-US" sz="14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adder를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설계하였고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특정 부분 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부분 파형 및 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결과 확인 완료하였다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기존의 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full_adder_4bit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에서 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1’b0</a:t>
            </a:r>
            <a:r>
              <a:rPr lang="ko-KR" altLang="en-US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로 그라운드 처리 했던 부분을 신호를 줌으로 변경시켜 설계 하였다</a:t>
            </a:r>
            <a:r>
              <a:rPr lang="en-US" altLang="ko-KR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021" y="3003041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5021" y="3460241"/>
            <a:ext cx="10241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상향식(Bottom-Up) 설계·검증의 효과: 각 계층을 진리표 단위로 먼저 검증한 뒤 다음 계층으로 넘어가,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재사용 같은 배선 버그를 상위 계층에 전파되기 전에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조기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하였다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정답은 없는 거 같지만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방식으로 설계를 하는 것이 나한테는 더 잘 맞는 거 같다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 경험으로 미루어 볼 때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설계를 하게 되면 임의의 시그널을 만들어줘서 줘야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검증을 할 수 있다는 생각이 있다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300" dirty="0"/>
          </a:p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 이름과 내부 wire 이름이 같으면(cin)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혼동하기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쉬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 거 같아 포트명이나 신호 명을 해당 부분에 맞추어 잘 짓는 것도 연습해야 된다는 생각이 든다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 제공하는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에서의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r>
              <a:rPr lang="ko-KR" alt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기능이라던가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master XDC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파일을 활용하는 법이나 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직접적으로 매핑하는 방법도 채득하여 배운 점이 많다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Ethernet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</a:t>
            </a:r>
            <a:r>
              <a:rPr lang="ko-KR" alt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프로잭트를</a:t>
            </a:r>
            <a:r>
              <a:rPr lang="ko-KR" alt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구성했을 당시에 이 부분이 혼자 찾아보며 하는 게 어려움이 정말 많았는데 조금은 알 것 같다</a:t>
            </a:r>
            <a:r>
              <a:rPr lang="en-US" altLang="ko-KR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Trouble shooting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30873"/>
              </p:ext>
            </p:extLst>
          </p:nvPr>
        </p:nvGraphicFramePr>
        <p:xfrm>
          <a:off x="548640" y="1729740"/>
          <a:ext cx="11109960" cy="42672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 상황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8비트 덧셈에서 니블 간 캐리 누락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full_adder_4bit FA1의 cin이 1'b0으로 </a:t>
                      </a:r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고정됨</a:t>
                      </a:r>
                      <a:r>
                        <a:rPr lang="en-US" altLang="ko-KR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.cin(cin)으로 연결하여 상위 캐리 전달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상위 4비트 결과가 회로에 반영 안 됨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full_adder_8bit FA4_2가 a[3:0]/b[3:0]/s[3:0] 인덱스를 재사용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a[7:4]/b[7:4]/s[7:4]로 인덱스 수정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시뮬레이션 시 xvlog invocation failed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프로젝트 경로의 한글·공백·클라우드 동기화 폴더 의심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환경 세팅의 문제라 설계함에 지장이 없어 그냥 진행하였다</a:t>
                      </a:r>
                      <a:r>
                        <a:rPr lang="en-US" altLang="ko-KR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.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파형에서 루프 변수(i)가 안 바뀌는 것처럼 보임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파형 창이 기본 범위(약 1000ns)에 고정되어 있었음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예측 실행 시간을 계산하여 </a:t>
                      </a:r>
                      <a:r>
                        <a:rPr lang="en-US" altLang="ko-KR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testbench</a:t>
                      </a:r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가 닫히지 않는 시간 내에서 </a:t>
                      </a:r>
                      <a:r>
                        <a:rPr lang="en-US" altLang="ko-KR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run 655350ns</a:t>
                      </a:r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처럼 따로 주어 확인하였다</a:t>
                      </a:r>
                      <a:r>
                        <a:rPr lang="en-US" altLang="ko-KR" sz="11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.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HW1 · Full Adder 8bit 설계 · 김민준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1701</Words>
  <Application>Microsoft Office PowerPoint</Application>
  <PresentationFormat>와이드스크린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7</cp:revision>
  <dcterms:created xsi:type="dcterms:W3CDTF">2026-07-18T16:27:04Z</dcterms:created>
  <dcterms:modified xsi:type="dcterms:W3CDTF">2026-07-20T12:13:56Z</dcterms:modified>
</cp:coreProperties>
</file>