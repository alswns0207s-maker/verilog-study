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1359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600" dirty="0">
                <a:solidFill>
                  <a:srgbClr val="8A8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 W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Fnd (digit_7segment) 설계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Basys-3  8bit Full Adder + FND Controller 설계 및 검증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5120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 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김민준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54681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작성일 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2026-07-20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581558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vivado 2020.2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개요 · 목적과 결과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46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목적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651533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8bit full adder, 4to1 MUX, 2to4 Decoder, Digit splitter, Fnd controller를 설계하여 Basys-3(Artix-7) Board의 7 segment에 덧셈 결과를 1000의 자리, 100의 자리, 10의 자리, 1의 자리로 분해하여 display 시킨다.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669280" y="9601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46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전체 추상화 diagram</a:t>
            </a:r>
            <a:endParaRPr lang="en-US" sz="1300" dirty="0"/>
          </a:p>
        </p:txBody>
      </p:sp>
      <p:pic>
        <p:nvPicPr>
          <p:cNvPr id="7" name="Image 0" descr="assets/overall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298448"/>
            <a:ext cx="6035040" cy="2697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42976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46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결과 요약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" y="4617720"/>
            <a:ext cx="11201400" cy="1463040"/>
          </a:xfrm>
          <a:prstGeom prst="roundRect">
            <a:avLst>
              <a:gd name="adj" fmla="val 3750"/>
            </a:avLst>
          </a:prstGeom>
          <a:solidFill>
            <a:srgbClr val="F3F6FC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4617720"/>
            <a:ext cx="10744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기존에 설계하였던 full_adder_8bit를 활용하여 digit_splitter를 통해 자리 수 분해, 4to1 MUX를 통과하여 BCD로 전달되고 Push Button L/R 입력을 통해 2bit로 segment 4자리를 Selection 신호로 조절하여 결과를 출력한다. 합 결과 s[7:0]은 0~255 범위이므로 1000의 자리는 항상 0이며, carry 출력 c는 LED로 오버플로우를 표시한다.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개요 · 설계 진행 절차 (Flow Chart)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783080" cy="914400"/>
          </a:xfrm>
          <a:prstGeom prst="chevron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2286000"/>
            <a:ext cx="1527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스펙 정의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293876" y="1719072"/>
            <a:ext cx="310896" cy="3108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1293876" y="1719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04872" y="2286000"/>
            <a:ext cx="1783080" cy="914400"/>
          </a:xfrm>
          <a:prstGeom prst="chevron">
            <a:avLst/>
          </a:prstGeom>
          <a:solidFill>
            <a:srgbClr val="3A468A"/>
          </a:solidFill>
          <a:ln/>
        </p:spPr>
      </p:sp>
      <p:sp>
        <p:nvSpPr>
          <p:cNvPr id="9" name="Text 7"/>
          <p:cNvSpPr/>
          <p:nvPr/>
        </p:nvSpPr>
        <p:spPr>
          <a:xfrm>
            <a:off x="2569464" y="2286000"/>
            <a:ext cx="1527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진리표 작성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0108" y="1719072"/>
            <a:ext cx="310896" cy="3108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3150108" y="1719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61104" y="2286000"/>
            <a:ext cx="1783080" cy="914400"/>
          </a:xfrm>
          <a:prstGeom prst="chevron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425696" y="2286000"/>
            <a:ext cx="1527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논리식 도출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06340" y="1719072"/>
            <a:ext cx="310896" cy="3108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5006340" y="1719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17336" y="2286000"/>
            <a:ext cx="1783080" cy="914400"/>
          </a:xfrm>
          <a:prstGeom prst="chevron">
            <a:avLst/>
          </a:prstGeom>
          <a:solidFill>
            <a:srgbClr val="3A468A"/>
          </a:solidFill>
          <a:ln/>
        </p:spPr>
      </p:sp>
      <p:sp>
        <p:nvSpPr>
          <p:cNvPr id="17" name="Text 15"/>
          <p:cNvSpPr/>
          <p:nvPr/>
        </p:nvSpPr>
        <p:spPr>
          <a:xfrm>
            <a:off x="6281928" y="2286000"/>
            <a:ext cx="1527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구현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62572" y="1719072"/>
            <a:ext cx="310896" cy="3108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6862572" y="1719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973568" y="2286000"/>
            <a:ext cx="1783080" cy="914400"/>
          </a:xfrm>
          <a:prstGeom prst="chevron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138160" y="2286000"/>
            <a:ext cx="1527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테스트벤치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718804" y="1719072"/>
            <a:ext cx="310896" cy="3108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3" name="Text 21"/>
          <p:cNvSpPr/>
          <p:nvPr/>
        </p:nvSpPr>
        <p:spPr>
          <a:xfrm>
            <a:off x="8718804" y="1719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829800" y="2286000"/>
            <a:ext cx="1783080" cy="914400"/>
          </a:xfrm>
          <a:prstGeom prst="chevron">
            <a:avLst/>
          </a:prstGeom>
          <a:solidFill>
            <a:srgbClr val="3A468A"/>
          </a:solidFill>
          <a:ln/>
        </p:spPr>
      </p:sp>
      <p:sp>
        <p:nvSpPr>
          <p:cNvPr id="25" name="Text 23"/>
          <p:cNvSpPr/>
          <p:nvPr/>
        </p:nvSpPr>
        <p:spPr>
          <a:xfrm>
            <a:off x="9994392" y="2286000"/>
            <a:ext cx="1527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시뮬레이션 검증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575036" y="1719072"/>
            <a:ext cx="310896" cy="3108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7" name="Text 25"/>
          <p:cNvSpPr/>
          <p:nvPr/>
        </p:nvSpPr>
        <p:spPr>
          <a:xfrm>
            <a:off x="10575036" y="1719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4754880"/>
            <a:ext cx="11201400" cy="914400"/>
          </a:xfrm>
          <a:prstGeom prst="roundRect">
            <a:avLst>
              <a:gd name="adj" fmla="val 6000"/>
            </a:avLst>
          </a:prstGeom>
          <a:solidFill>
            <a:srgbClr val="E8ECFA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47548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적용  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full_adder_8bit(기존 검증 완료) → digit_splitter / decode_2x4 / mux_4to1 / bcd → fnd_controller → adder_fnd(Top) — 위 6단계를 계층마다 반복 적용하여, 아래 계층이 검증된 뒤에만 위 계층으로 진행하는 상향식(Bottom-Up) 방식으로 설계함.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입, 출력 SPEC 정의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4" name="Image 0" descr="assets/seg_wi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51560"/>
            <a:ext cx="3520440" cy="2240280"/>
          </a:xfrm>
          <a:prstGeom prst="rect">
            <a:avLst/>
          </a:prstGeom>
        </p:spPr>
      </p:pic>
      <p:pic>
        <p:nvPicPr>
          <p:cNvPr id="5" name="Image 1" descr="assets/seg_di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051560"/>
            <a:ext cx="1554480" cy="2231136"/>
          </a:xfrm>
          <a:prstGeom prst="rect">
            <a:avLst/>
          </a:prstGeom>
        </p:spPr>
      </p:pic>
      <p:pic>
        <p:nvPicPr>
          <p:cNvPr id="6" name="Image 2" descr="assets/seg_tab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051560"/>
            <a:ext cx="5394960" cy="3575304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02920" y="3611880"/>
            <a:ext cx="5394960" cy="1417320"/>
          </a:xfrm>
          <a:prstGeom prst="roundRect">
            <a:avLst>
              <a:gd name="adj" fmla="val 3871"/>
            </a:avLst>
          </a:prstGeom>
          <a:solidFill>
            <a:srgbClr val="E8ECFA"/>
          </a:solidFill>
          <a:ln/>
        </p:spPr>
      </p:sp>
      <p:sp>
        <p:nvSpPr>
          <p:cNvPr id="8" name="Text 3"/>
          <p:cNvSpPr/>
          <p:nvPr/>
        </p:nvSpPr>
        <p:spPr>
          <a:xfrm>
            <a:off x="731520" y="361188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Basys3 board의 segment 사양을 보면 pnp와 diode 기반으로 high, low를 주며 A, B…G 소자 다이오드의 불을 켜서 숫자를 표시할 수 있다.</a:t>
            </a:r>
            <a:endParaRPr lang="en-US" sz="1100" dirty="0"/>
          </a:p>
        </p:txBody>
      </p:sp>
      <p:sp>
        <p:nvSpPr>
          <p:cNvPr id="9" name="Shape 4"/>
          <p:cNvSpPr/>
          <p:nvPr/>
        </p:nvSpPr>
        <p:spPr>
          <a:xfrm>
            <a:off x="502920" y="5212080"/>
            <a:ext cx="11201400" cy="1234440"/>
          </a:xfrm>
          <a:prstGeom prst="roundRect">
            <a:avLst>
              <a:gd name="adj" fmla="val 4444"/>
            </a:avLst>
          </a:prstGeom>
          <a:solidFill>
            <a:srgbClr val="E8ECFA"/>
          </a:solidFill>
          <a:ln/>
        </p:spPr>
      </p:sp>
      <p:sp>
        <p:nvSpPr>
          <p:cNvPr id="10" name="Text 5"/>
          <p:cNvSpPr/>
          <p:nvPr/>
        </p:nvSpPr>
        <p:spPr>
          <a:xfrm>
            <a:off x="731520" y="5212080"/>
            <a:ext cx="10744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애노드 구조상 입력이 0이어야 활성화가 되기에 common 부분과 segment diode 부분을 0으로 주어(active-low) 출력을 정의한다. 이 경우 0부터 순차적으로 Look-up table을 통해 Full case 정의를 사용하고 default까지 명시하여, tool에서 latch 자동 삽입이 없는 상황을 만들었다.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입, 출력 SPEC 정의 — 전체 구성 (figure2)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4" name="Image 0" descr="assets/hand_draw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960120"/>
            <a:ext cx="8686800" cy="3959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4956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figure2 — 직접 그린 전체 구성도 (adder_fnd → fnd_controller → 7-segment)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02920" y="5349240"/>
            <a:ext cx="11201400" cy="1143000"/>
          </a:xfrm>
          <a:prstGeom prst="roundRect">
            <a:avLst>
              <a:gd name="adj" fmla="val 4800"/>
            </a:avLst>
          </a:prstGeom>
          <a:solidFill>
            <a:srgbClr val="F3F6FC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5349240"/>
            <a:ext cx="10744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Full_adder_8bit — input 8bit×2 / output 8bit, 1bit    ·    Fnd_controller — input 8bit, 2bit / output 4bit, 8bit    ·    Digit_splitter — input 8bit / output 4bit×4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Mux_4to1 — input 4bit×4, 2bit / output 4bit    ·    Decode_2x4 — input 2bit / output 4bit    ·    BCD — input 4bit / output 8bit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1 · full_adder_8bit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93268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46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구조 설명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280160"/>
            <a:ext cx="3063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HW1에서 설계·검증 완료한 모듈 재사용</a:t>
            </a:r>
            <a:endParaRPr lang="en-US" sz="1100" dirty="0"/>
          </a:p>
          <a:p>
            <a:pPr marL="127000" indent="-127000" algn="l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full_adder_4bit 2개를 </a:t>
            </a:r>
            <a:r>
              <a:rPr lang="ko-KR" alt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연결하여 사용</a:t>
            </a:r>
            <a:endParaRPr lang="en-US" altLang="ko-KR" sz="1100" dirty="0">
              <a:solidFill>
                <a:srgbClr val="4A4A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27000" indent="-127000" algn="l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FA4_1: </a:t>
            </a:r>
            <a:r>
              <a:rPr lang="en-US" sz="1100" dirty="0" err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하위</a:t>
            </a: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비트 합</a:t>
            </a: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a[3:0]+b[3:0], cin=1＇b0</a:t>
            </a:r>
            <a:endParaRPr lang="en-US" sz="1100" dirty="0"/>
          </a:p>
          <a:p>
            <a:pPr marL="127000" indent="-127000" algn="l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FA4_1의 carry-out(c_mid) → FA4_2의 cin</a:t>
            </a:r>
            <a:endParaRPr lang="en-US" sz="1100" dirty="0"/>
          </a:p>
          <a:p>
            <a:pPr marL="127000" indent="-127000" algn="l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FA4_2: </a:t>
            </a:r>
            <a:r>
              <a:rPr lang="en-US" sz="1100" dirty="0" err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상위</a:t>
            </a: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비트 합</a:t>
            </a: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a[7:4]+b[7:4], carry-out = c</a:t>
            </a:r>
          </a:p>
        </p:txBody>
      </p:sp>
      <p:sp>
        <p:nvSpPr>
          <p:cNvPr id="6" name="Text 4"/>
          <p:cNvSpPr/>
          <p:nvPr/>
        </p:nvSpPr>
        <p:spPr>
          <a:xfrm>
            <a:off x="3794760" y="9326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46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코드 (full_adder.v)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794760" y="1280160"/>
            <a:ext cx="3886200" cy="4297680"/>
          </a:xfrm>
          <a:prstGeom prst="roundRect">
            <a:avLst>
              <a:gd name="adj" fmla="val 1412"/>
            </a:avLst>
          </a:prstGeom>
          <a:solidFill>
            <a:srgbClr val="12162E"/>
          </a:solidFill>
          <a:ln/>
        </p:spPr>
      </p:sp>
      <p:sp>
        <p:nvSpPr>
          <p:cNvPr id="8" name="Text 6"/>
          <p:cNvSpPr/>
          <p:nvPr/>
        </p:nvSpPr>
        <p:spPr>
          <a:xfrm>
            <a:off x="3931920" y="1371600"/>
            <a:ext cx="36118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full_adder_8bit(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input  [7:0] a, b,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output [7:0] s,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output c);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wire c_mid;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full_adder_4bit FA4_1(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.a(a[3:0]), .b(b[3:0]),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.cin(1'b0),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.s(s[3:0]), .c(c_mid));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full_adder_4bit FA4_2(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.a(a[7:4]), .b(b[7:4]),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.cin(c_mid),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.s(s[7:4]), .c(c));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endmodule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909560" y="9326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46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구조도</a:t>
            </a:r>
            <a:endParaRPr lang="en-US" sz="1300" dirty="0"/>
          </a:p>
        </p:txBody>
      </p:sp>
      <p:pic>
        <p:nvPicPr>
          <p:cNvPr id="10" name="Image 0" descr="assets/fa8_inter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1417320"/>
            <a:ext cx="3794760" cy="1887195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02920" y="5806440"/>
            <a:ext cx="11201400" cy="777240"/>
          </a:xfrm>
          <a:prstGeom prst="roundRect">
            <a:avLst>
              <a:gd name="adj" fmla="val 7059"/>
            </a:avLst>
          </a:prstGeom>
          <a:solidFill>
            <a:srgbClr val="E8ECFA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58064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재사용 모듈  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half_adder / full_adder / full_adder_4bit</a:t>
            </a:r>
            <a:r>
              <a:rPr lang="ko-KR" alt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는 </a:t>
            </a:r>
            <a:r>
              <a:rPr lang="en-US" altLang="ko-KR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HW1</a:t>
            </a:r>
            <a:r>
              <a:rPr lang="ko-KR" alt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에서 검증을 완료 했기 때문에 따로 정의 하지 않겠다</a:t>
            </a:r>
            <a:r>
              <a:rPr lang="en-US" altLang="ko-KR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2 · digit_splitter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93268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46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구조 설명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280160"/>
            <a:ext cx="3063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8bit 이진값(0~255)을 십진 자릿수 4개로 분해</a:t>
            </a:r>
            <a:endParaRPr lang="en-US" sz="1100" dirty="0"/>
          </a:p>
          <a:p>
            <a:pPr marL="127000" indent="-127000" algn="l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digit_1 = seg_data % 10</a:t>
            </a:r>
            <a:endParaRPr lang="en-US" sz="1100" dirty="0"/>
          </a:p>
          <a:p>
            <a:pPr marL="127000" indent="-127000" algn="l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digit_10 = (seg_data/10) % 10</a:t>
            </a:r>
            <a:endParaRPr lang="en-US" sz="1100" dirty="0"/>
          </a:p>
          <a:p>
            <a:pPr marL="127000" indent="-127000" algn="l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digit_100 = (seg_data/100) % 10</a:t>
            </a:r>
            <a:endParaRPr lang="en-US" sz="1100" dirty="0"/>
          </a:p>
          <a:p>
            <a:pPr marL="127000" indent="-127000" algn="l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digit_1000은 8bit 입력 특성상 항상 0</a:t>
            </a:r>
            <a:endParaRPr lang="en-US" sz="1100" dirty="0"/>
          </a:p>
          <a:p>
            <a:pPr marL="127000" indent="-127000" algn="l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</a:t>
            </a:r>
            <a:r>
              <a:rPr lang="ko-KR" alt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으로 몫과 나머지 연산을 시행하여 자릿수 분해를 담당하는 부분을 </a:t>
            </a:r>
            <a:r>
              <a:rPr lang="en-US" altLang="ko-KR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ko-KR" alt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가지로 나눴다</a:t>
            </a:r>
            <a:r>
              <a:rPr lang="en-US" altLang="ko-KR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794760" y="9326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46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코드 (fnd_controlloer.v)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794760" y="1280160"/>
            <a:ext cx="3886200" cy="5029200"/>
          </a:xfrm>
          <a:prstGeom prst="roundRect">
            <a:avLst>
              <a:gd name="adj" fmla="val 1412"/>
            </a:avLst>
          </a:prstGeom>
          <a:solidFill>
            <a:srgbClr val="12162E"/>
          </a:solidFill>
          <a:ln/>
        </p:spPr>
      </p:sp>
      <p:sp>
        <p:nvSpPr>
          <p:cNvPr id="8" name="Text 6"/>
          <p:cNvSpPr/>
          <p:nvPr/>
        </p:nvSpPr>
        <p:spPr>
          <a:xfrm>
            <a:off x="3931920" y="1371600"/>
            <a:ext cx="36118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digit_splitter(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input  [7:0] seg_data,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output [3:0] digit_1,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output [3:0] digit_10,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output [3:0] digit_100,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output [3:0] digit_1000);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assign digit_1    = seg_data % 10;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assign digit_10   = (seg_data/10) % 10;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assign digit_100  = (seg_data/100) % 10;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assign digit_1000 = (seg_data/1000) % 10;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endmodule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909560" y="9326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46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구조도</a:t>
            </a:r>
            <a:endParaRPr lang="en-US" sz="1300" dirty="0"/>
          </a:p>
        </p:txBody>
      </p:sp>
      <p:pic>
        <p:nvPicPr>
          <p:cNvPr id="10" name="Image 0" descr="assets/block_3_digit_spli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1417320"/>
            <a:ext cx="3794760" cy="20052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3 · decode_2x4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93268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46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구조 설명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280160"/>
            <a:ext cx="3063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버튼 2bit(digit_sel)로 4자리 중 켤 자리 선택</a:t>
            </a:r>
            <a:endParaRPr lang="en-US" sz="1100" dirty="0"/>
          </a:p>
          <a:p>
            <a:pPr marL="127000" indent="-127000" algn="l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출력은 active-low one-hot</a:t>
            </a:r>
            <a:endParaRPr lang="en-US" sz="1100" dirty="0"/>
          </a:p>
          <a:p>
            <a:pPr marL="127000" indent="-127000" algn="l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00→1110, 01→1101, 10→1011, 11→0111</a:t>
            </a:r>
            <a:endParaRPr lang="en-US" sz="1100" dirty="0"/>
          </a:p>
          <a:p>
            <a:pPr marL="127000" indent="-127000" algn="l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full case + default</a:t>
            </a: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 latch 삽입 방지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794760" y="9326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46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코드 (fnd_controlloer.v)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794760" y="1280160"/>
            <a:ext cx="3886200" cy="5029200"/>
          </a:xfrm>
          <a:prstGeom prst="roundRect">
            <a:avLst>
              <a:gd name="adj" fmla="val 1412"/>
            </a:avLst>
          </a:prstGeom>
          <a:solidFill>
            <a:srgbClr val="12162E"/>
          </a:solidFill>
          <a:ln/>
        </p:spPr>
      </p:sp>
      <p:sp>
        <p:nvSpPr>
          <p:cNvPr id="8" name="Text 6"/>
          <p:cNvSpPr/>
          <p:nvPr/>
        </p:nvSpPr>
        <p:spPr>
          <a:xfrm>
            <a:off x="3931920" y="1371600"/>
            <a:ext cx="36118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decode_2x4(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input  [1:0] digit_sel,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output reg [3:0] fnd_com);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always @(digit_sel) begin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(digit_sel)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2'b00: fnd_com = 4'b1110;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2'b01: fnd_com = 4'b1101;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2'b10: fnd_com = 4'b1011;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2'b11: fnd_com = 4'b0111;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default: fnd_com = 4'b1110;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endcase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endmodule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909560" y="9326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46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구조도</a:t>
            </a:r>
            <a:endParaRPr lang="en-US" sz="1300" dirty="0"/>
          </a:p>
        </p:txBody>
      </p:sp>
      <p:pic>
        <p:nvPicPr>
          <p:cNvPr id="10" name="Image 0" descr="assets/block_2_decode_2x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1417320"/>
            <a:ext cx="3794760" cy="137369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4 · mux_4to1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93268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46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구조 설명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280160"/>
            <a:ext cx="3063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digit_splitter가 분해한 자릿값 4개 중 1개 선택</a:t>
            </a:r>
            <a:endParaRPr lang="en-US" sz="1100" dirty="0"/>
          </a:p>
          <a:p>
            <a:pPr marL="127000" indent="-127000" algn="l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sel은 decode_2x4와 동일한 digit_sel 신호 공유</a:t>
            </a:r>
            <a:endParaRPr lang="en-US" sz="1100" dirty="0"/>
          </a:p>
          <a:p>
            <a:pPr marL="127000" indent="-127000" algn="l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</a:t>
            </a:r>
            <a:r>
              <a:rPr lang="ko-KR" alt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문이 아니라 </a:t>
            </a:r>
            <a:r>
              <a:rPr lang="ko-KR" altLang="en-US" sz="1100" dirty="0" err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삼항</a:t>
            </a:r>
            <a:r>
              <a:rPr lang="ko-KR" alt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연산자를 사용해서</a:t>
            </a: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4:1 MUX </a:t>
            </a:r>
            <a:r>
              <a:rPr lang="en-US" sz="1100" dirty="0" err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</a:t>
            </a:r>
            <a:endParaRPr lang="en-US" sz="1100" dirty="0">
              <a:solidFill>
                <a:srgbClr val="4A4A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27000" indent="-127000" algn="l">
              <a:spcAft>
                <a:spcPts val="600"/>
              </a:spcAft>
              <a:buSzPct val="100000"/>
              <a:buChar char="•"/>
            </a:pP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794760" y="9326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46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코드 (fnd_controlloer.v)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794760" y="1280160"/>
            <a:ext cx="3886200" cy="5029200"/>
          </a:xfrm>
          <a:prstGeom prst="roundRect">
            <a:avLst>
              <a:gd name="adj" fmla="val 1412"/>
            </a:avLst>
          </a:prstGeom>
          <a:solidFill>
            <a:srgbClr val="12162E"/>
          </a:solidFill>
          <a:ln/>
        </p:spPr>
      </p:sp>
      <p:sp>
        <p:nvSpPr>
          <p:cNvPr id="8" name="Text 6"/>
          <p:cNvSpPr/>
          <p:nvPr/>
        </p:nvSpPr>
        <p:spPr>
          <a:xfrm>
            <a:off x="3931920" y="1371600"/>
            <a:ext cx="36118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mux_4to1(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input  [3:0] digit_1, digit_10,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input  [3:0] digit_100, digit_1000,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input  [1:0] sel,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output [3:0] mux_out);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assign mux_out =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(sel == 2'b00) ? digit_1    :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(sel == 2'b01) ? digit_10   :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(sel == 2'b10) ? digit_100  :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(sel == 2'b11) ? digit_1000 :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4'b1111;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endmodule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909560" y="9326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46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구조도</a:t>
            </a:r>
            <a:endParaRPr lang="en-US" sz="1300" dirty="0"/>
          </a:p>
        </p:txBody>
      </p:sp>
      <p:pic>
        <p:nvPicPr>
          <p:cNvPr id="10" name="Image 0" descr="assets/block_4_mux_4t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1417320"/>
            <a:ext cx="3794760" cy="221580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5 · bcd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93268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46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구조 설명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280160"/>
            <a:ext cx="3063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4bit 숫자를 7-segment 패턴으로 변환하는 LUT</a:t>
            </a:r>
            <a:endParaRPr lang="en-US" sz="1100" dirty="0"/>
          </a:p>
          <a:p>
            <a:pPr marL="127000" indent="-127000" algn="l">
              <a:spcAft>
                <a:spcPts val="600"/>
              </a:spcAft>
              <a:buSzPct val="100000"/>
              <a:buChar char="•"/>
            </a:pPr>
            <a:r>
              <a:rPr lang="ko-KR" alt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사용할 </a:t>
            </a:r>
            <a:r>
              <a:rPr lang="en-US" altLang="ko-KR" sz="1100" dirty="0" err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</a:t>
            </a:r>
            <a:r>
              <a:rPr lang="ko-KR" alt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부분</a:t>
            </a: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active-low (0=켜짐)</a:t>
            </a:r>
            <a:endParaRPr lang="en-US" sz="1100" dirty="0"/>
          </a:p>
          <a:p>
            <a:pPr marL="127000" indent="-127000" algn="l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0 → 8＇hC0, 1 → 8＇hF9, 9 → 8’h90 </a:t>
            </a:r>
            <a:r>
              <a:rPr lang="ko-KR" alt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 </a:t>
            </a:r>
            <a:r>
              <a:rPr lang="en-US" altLang="ko-KR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</a:t>
            </a:r>
            <a:r>
              <a:rPr lang="ko-KR" alt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구성하여 </a:t>
            </a:r>
            <a:r>
              <a:rPr lang="en-US" altLang="ko-KR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case</a:t>
            </a:r>
            <a:r>
              <a:rPr lang="ko-KR" alt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를 정의하여 </a:t>
            </a:r>
            <a:r>
              <a:rPr lang="en-US" altLang="ko-KR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latch</a:t>
            </a:r>
            <a:r>
              <a:rPr lang="ko-KR" alt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삽입 문제를 방지하였다</a:t>
            </a:r>
            <a:r>
              <a:rPr lang="en-US" altLang="ko-KR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  <a:p>
            <a:pPr algn="l">
              <a:spcAft>
                <a:spcPts val="600"/>
              </a:spcAft>
              <a:buSzPct val="100000"/>
            </a:pP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794760" y="9326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46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코드 (fnd_controlloer.v)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794760" y="1280160"/>
            <a:ext cx="3886200" cy="5029200"/>
          </a:xfrm>
          <a:prstGeom prst="roundRect">
            <a:avLst>
              <a:gd name="adj" fmla="val 1412"/>
            </a:avLst>
          </a:prstGeom>
          <a:solidFill>
            <a:srgbClr val="12162E"/>
          </a:solidFill>
          <a:ln/>
        </p:spPr>
      </p:sp>
      <p:sp>
        <p:nvSpPr>
          <p:cNvPr id="8" name="Text 6"/>
          <p:cNvSpPr/>
          <p:nvPr/>
        </p:nvSpPr>
        <p:spPr>
          <a:xfrm>
            <a:off x="3931920" y="1371600"/>
            <a:ext cx="36118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bcd(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input  [3:0] bcd_in,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output reg [7:0] bcd_out);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always @(bcd_in) begin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(bcd_in)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4'b0000: bcd_out = 8'hc0; // 0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4'b0001: bcd_out = 8'hf9; // 1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4'b0010: bcd_out = 8'ha4; // 2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4'b0011: bcd_out = 8'hb0; // 3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//  ...  4 ~ 8  ...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4'b1001: bcd_out = 8'h90; // 9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//  ...  A ~ F  ...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default: bcd_out = 8'hff;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endcase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endmodule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909560" y="9326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46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구조도</a:t>
            </a:r>
            <a:endParaRPr lang="en-US" sz="1300" dirty="0"/>
          </a:p>
        </p:txBody>
      </p:sp>
      <p:pic>
        <p:nvPicPr>
          <p:cNvPr id="10" name="Image 0" descr="assets/block_5_bc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1417320"/>
            <a:ext cx="3794760" cy="137369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6 · fnd_controller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93268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46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구조 설명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280160"/>
            <a:ext cx="3063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표시 경로 서브블록 4개를 조합한 컨트롤러</a:t>
            </a:r>
            <a:endParaRPr lang="en-US" sz="1100" dirty="0"/>
          </a:p>
          <a:p>
            <a:pPr marL="127000" indent="-127000" algn="l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decode_2x4 → fnd_com (자리 선택)</a:t>
            </a:r>
            <a:endParaRPr lang="en-US" sz="1100" dirty="0"/>
          </a:p>
          <a:p>
            <a:pPr marL="127000" indent="-127000" algn="l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digit_splitter → mux_4to1 → bcd → fnd_data</a:t>
            </a:r>
            <a:endParaRPr lang="en-US" sz="1100" dirty="0"/>
          </a:p>
          <a:p>
            <a:pPr marL="127000" indent="-127000" algn="l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digit_sel이 자리·값 선택에 동시 사용됨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794760" y="9326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46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코드 (fnd_controlloer.v)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794760" y="1280160"/>
            <a:ext cx="3886200" cy="4297680"/>
          </a:xfrm>
          <a:prstGeom prst="roundRect">
            <a:avLst>
              <a:gd name="adj" fmla="val 1412"/>
            </a:avLst>
          </a:prstGeom>
          <a:solidFill>
            <a:srgbClr val="12162E"/>
          </a:solidFill>
          <a:ln/>
        </p:spPr>
      </p:sp>
      <p:sp>
        <p:nvSpPr>
          <p:cNvPr id="8" name="Text 6"/>
          <p:cNvSpPr/>
          <p:nvPr/>
        </p:nvSpPr>
        <p:spPr>
          <a:xfrm>
            <a:off x="3931920" y="1371600"/>
            <a:ext cx="36118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fnd_controller(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input  [7:0] fnd_in,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input  [1:0] digit_sel,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output [3:0] fnd_com,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output [7:0] </a:t>
            </a:r>
            <a:r>
              <a:rPr lang="en-US" sz="900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fnd_data</a:t>
            </a: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wire [3:0] w_d1, w_d10,</a:t>
            </a:r>
            <a:r>
              <a:rPr lang="en-US" sz="900" dirty="0"/>
              <a:t> </a:t>
            </a: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w_d100, w_d1000;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wire [3:0] mux_out;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decode_2x4  U_DECODER2X4(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.digit_sel(digit_sel),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.fnd_com(fnd_com));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endParaRPr lang="en-US" sz="900" dirty="0">
              <a:solidFill>
                <a:srgbClr val="FFFFFF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endParaRPr lang="en-US" sz="900" dirty="0">
              <a:solidFill>
                <a:srgbClr val="FFFFFF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digit_splitter</a:t>
            </a: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U_DS(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 );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endParaRPr lang="en-US" sz="900" dirty="0">
              <a:solidFill>
                <a:srgbClr val="FFFFFF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endParaRPr lang="en-US" sz="900" dirty="0">
              <a:solidFill>
                <a:srgbClr val="FFFFFF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mux_4to1   U_MUX_4to1(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 );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endParaRPr lang="en-US" sz="900" dirty="0">
              <a:solidFill>
                <a:srgbClr val="FFFFFF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endParaRPr lang="en-US" sz="900" dirty="0">
              <a:solidFill>
                <a:srgbClr val="FFFFFF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bcd</a:t>
            </a: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U_BCD(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.bcd_in(mux_out),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.bcd_out(fnd_data));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endmodule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909560" y="9326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46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구조도</a:t>
            </a:r>
            <a:endParaRPr lang="en-US" sz="1300" dirty="0"/>
          </a:p>
        </p:txBody>
      </p:sp>
      <p:pic>
        <p:nvPicPr>
          <p:cNvPr id="10" name="Image 0" descr="assets/block_6_fnd_controll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1417320"/>
            <a:ext cx="3794760" cy="168948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02920" y="5806440"/>
            <a:ext cx="11201400" cy="777240"/>
          </a:xfrm>
          <a:prstGeom prst="roundRect">
            <a:avLst>
              <a:gd name="adj" fmla="val 7059"/>
            </a:avLst>
          </a:prstGeom>
          <a:solidFill>
            <a:srgbClr val="E8ECFA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58064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수정 이력 (board 오동작 원인)  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초기 코드에 assign fnd_com = 4'b1110; 상수 구동이 남아 있어 decode_2x4 출력과 충돌(multi-driven net). synthesis가 상수 드라이버를 우선 보존해 버튼을 눌러도 자리가 바뀌지 않는 board 오동작 발생 → assign 문 삭제로 해결.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7 · adder_fnd (Top)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93268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46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구조 설명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280160"/>
            <a:ext cx="3063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연산부 + 표시부 두 블록만 인스턴스화한 Top</a:t>
            </a:r>
            <a:endParaRPr lang="en-US" sz="1100" dirty="0"/>
          </a:p>
          <a:p>
            <a:pPr marL="127000" indent="-127000" algn="l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full_adder_8bit.s → fnd_controller.fnd_in</a:t>
            </a:r>
            <a:endParaRPr lang="en-US" sz="1100" dirty="0"/>
          </a:p>
          <a:p>
            <a:pPr marL="127000" indent="-127000" algn="l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{btn_L, btn_R} concatenation → digit_sel</a:t>
            </a:r>
            <a:endParaRPr lang="en-US" sz="1100" dirty="0"/>
          </a:p>
          <a:p>
            <a:pPr marL="127000" indent="-127000" algn="l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</a:t>
            </a:r>
            <a:r>
              <a:rPr lang="en-US" sz="1100" dirty="0" err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c는</a:t>
            </a: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LED15</a:t>
            </a:r>
            <a:r>
              <a:rPr lang="ko-KR" alt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794760" y="9326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46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코드 (adder_fnd.v)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794760" y="1280160"/>
            <a:ext cx="3886200" cy="5029200"/>
          </a:xfrm>
          <a:prstGeom prst="roundRect">
            <a:avLst>
              <a:gd name="adj" fmla="val 1412"/>
            </a:avLst>
          </a:prstGeom>
          <a:solidFill>
            <a:srgbClr val="12162E"/>
          </a:solidFill>
          <a:ln/>
        </p:spPr>
      </p:sp>
      <p:sp>
        <p:nvSpPr>
          <p:cNvPr id="8" name="Text 6"/>
          <p:cNvSpPr/>
          <p:nvPr/>
        </p:nvSpPr>
        <p:spPr>
          <a:xfrm>
            <a:off x="3931920" y="1371600"/>
            <a:ext cx="36118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adder_fnd(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input  [7:0] a, b,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input  btn_L, btn_R,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output [3:0] fnd_com,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output [7:0] fnd_data,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output c);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wire [7:0] s;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full_adder_8bit FA8(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.a(a), .b(b),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.s(s), .c(c));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fnd_controller U_FSN_CNTL(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.fnd_in(s),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.digit_sel({btn_L, btn_R}),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.fnd_com(fnd_com),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.fnd_data(fnd_data));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endmodule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909560" y="9326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46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구조도</a:t>
            </a:r>
            <a:endParaRPr lang="en-US" sz="1300" dirty="0"/>
          </a:p>
        </p:txBody>
      </p:sp>
      <p:pic>
        <p:nvPicPr>
          <p:cNvPr id="10" name="Image 0" descr="assets/block_7_adder_fnd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1417320"/>
            <a:ext cx="3794760" cy="20052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결론 및 고찰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2711059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결론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3076819"/>
            <a:ext cx="10515600" cy="1033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HW1에서 검증한 full_adder_8bit에 digit_splitter, decode_2x4, mux_4to1, bcd로 구성한 fnd_controller를 결합하여, 스위치 두 값(a, b)의 합을 7-segment에 십진수로 표시하는 adder_fnd를 설계하였다. 버튼(btn_L/btn_R) 2bit로 표시할 자리(fnd_com)와 자릿값(mux_out)을 동시에 선택하는 구조이며, synthesis·implementation·bitstream 생성 및 board 동작 확인을 완료하였다.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4318503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고찰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4825496"/>
            <a:ext cx="10515600" cy="1621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fnd_com을 상수 assign과 decode_2x4 출력이 동시에 구동하는 multi-driven net 때문에 board에서 자리 선택이 동작하지 않았다. synthesis 로그의 CRITICAL WARNING(Synth 8-6858/6859)에 원</a:t>
            </a:r>
            <a:r>
              <a:rPr lang="ko-KR" alt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인이 찍힌 것을 </a:t>
            </a:r>
            <a:r>
              <a:rPr lang="en-US" altLang="ko-KR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r>
              <a:rPr lang="ko-KR" alt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분석을 해서 해결하였다</a:t>
            </a:r>
            <a:r>
              <a:rPr lang="en-US" altLang="ko-KR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Log</a:t>
            </a:r>
            <a:r>
              <a:rPr lang="ko-KR" alt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보는 법을 습관화 하겠다</a:t>
            </a:r>
            <a:r>
              <a:rPr lang="en-US" altLang="ko-KR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r>
              <a:rPr lang="ko-KR" alt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관리가 미흡하여 수업 도중에 </a:t>
            </a:r>
            <a:r>
              <a:rPr lang="en-US" altLang="ko-KR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overwriting </a:t>
            </a:r>
            <a:r>
              <a:rPr lang="ko-KR" alt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문제가 몇 번 발생하였었다</a:t>
            </a:r>
            <a:r>
              <a:rPr lang="en-US" altLang="ko-KR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Add source</a:t>
            </a:r>
            <a:r>
              <a:rPr lang="ko-KR" alt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 불러오는 걸 너무 여러 번 하면 나중에 읽기 힘들다는 것 또한 실습을 하며 배웠다</a:t>
            </a:r>
            <a:r>
              <a:rPr lang="en-US" altLang="ko-KR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  <p:sp>
        <p:nvSpPr>
          <p:cNvPr id="7" name="Text 5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Trouble shooting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8276636"/>
              </p:ext>
            </p:extLst>
          </p:nvPr>
        </p:nvGraphicFramePr>
        <p:xfrm>
          <a:off x="502920" y="1051560"/>
          <a:ext cx="11201400" cy="27432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문제 상황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원인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해결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latin typeface="Calibri" charset="0"/>
                          <a:ea typeface="Calibri" charset="0"/>
                          <a:cs typeface="Calibri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synthesis 시 CRITICAL WARNING 12건 발생 (Synth 8-6858/6859)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위와 동일 원인 — fnd_com[3:0] 각 비트가 VCC/GND 상수와 디코더 출력에 이중 구동됨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수정 후 재합성으로 경고 제거 확인 (0 critical warnings)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latin typeface="Calibri" charset="0"/>
                          <a:ea typeface="Calibri" charset="0"/>
                          <a:cs typeface="Calibri" charset="0"/>
                        </a:rPr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시뮬레이션 시 xvlog invocation failed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프로젝트 경로의 한글·공백·클라우드 동기화 폴더 의심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환경 세팅 문제로 설계에는 지장이 없어 그대로 진행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latin typeface="Calibri" charset="0"/>
                          <a:ea typeface="Calibri" charset="0"/>
                          <a:cs typeface="Calibri" charset="0"/>
                        </a:rPr>
                        <a:t>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FND 1000의 자리가 항상 0으로 표시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8bit 입력 특성상 합의 최대값이 255라 1000의 자리가 존재하지 않음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 err="1">
                          <a:latin typeface="Calibri" charset="0"/>
                          <a:ea typeface="Calibri" charset="0"/>
                          <a:cs typeface="Calibri" charset="0"/>
                        </a:rPr>
                        <a:t>Vivado</a:t>
                      </a:r>
                      <a:r>
                        <a:rPr lang="ko-KR" altLang="en-US" sz="1050" dirty="0">
                          <a:latin typeface="Calibri" charset="0"/>
                          <a:ea typeface="Calibri" charset="0"/>
                          <a:cs typeface="Calibri" charset="0"/>
                        </a:rPr>
                        <a:t>에서 </a:t>
                      </a:r>
                      <a:r>
                        <a:rPr lang="en-US" altLang="ko-KR" sz="1050" dirty="0">
                          <a:latin typeface="Calibri" charset="0"/>
                          <a:ea typeface="Calibri" charset="0"/>
                          <a:cs typeface="Calibri" charset="0"/>
                        </a:rPr>
                        <a:t>opt</a:t>
                      </a:r>
                      <a:r>
                        <a:rPr lang="ko-KR" altLang="en-US" sz="1050" dirty="0">
                          <a:latin typeface="Calibri" charset="0"/>
                          <a:ea typeface="Calibri" charset="0"/>
                          <a:cs typeface="Calibri" charset="0"/>
                        </a:rPr>
                        <a:t>를 하며 임의로 지운 것으로 보임 </a:t>
                      </a:r>
                      <a:r>
                        <a:rPr lang="en-US" altLang="ko-KR" sz="1050" dirty="0">
                          <a:latin typeface="Calibri" charset="0"/>
                          <a:ea typeface="Calibri" charset="0"/>
                          <a:cs typeface="Calibri" charset="0"/>
                        </a:rPr>
                        <a:t>bit</a:t>
                      </a:r>
                      <a:r>
                        <a:rPr lang="ko-KR" altLang="en-US" sz="1050" dirty="0">
                          <a:latin typeface="Calibri" charset="0"/>
                          <a:ea typeface="Calibri" charset="0"/>
                          <a:cs typeface="Calibri" charset="0"/>
                        </a:rPr>
                        <a:t>표현 범위가 </a:t>
                      </a:r>
                      <a:r>
                        <a:rPr lang="en-US" altLang="ko-KR" sz="1050" dirty="0">
                          <a:latin typeface="Calibri" charset="0"/>
                          <a:ea typeface="Calibri" charset="0"/>
                          <a:cs typeface="Calibri" charset="0"/>
                        </a:rPr>
                        <a:t>1000</a:t>
                      </a:r>
                      <a:r>
                        <a:rPr lang="ko-KR" altLang="en-US" sz="1050" dirty="0">
                          <a:latin typeface="Calibri" charset="0"/>
                          <a:ea typeface="Calibri" charset="0"/>
                          <a:cs typeface="Calibri" charset="0"/>
                        </a:rPr>
                        <a:t>을 넘어가지 않기 때문에</a:t>
                      </a:r>
                      <a:r>
                        <a:rPr lang="en-US" altLang="ko-KR" sz="1050" dirty="0">
                          <a:latin typeface="Calibri" charset="0"/>
                          <a:ea typeface="Calibri" charset="0"/>
                          <a:cs typeface="Calibri" charset="0"/>
                        </a:rPr>
                        <a:t>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HW2 · Fnd(7-Segment) 설계 · 김민준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2104</Words>
  <Application>Microsoft Office PowerPoint</Application>
  <PresentationFormat>와이드스크린</PresentationFormat>
  <Paragraphs>269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</cp:lastModifiedBy>
  <cp:revision>5</cp:revision>
  <dcterms:created xsi:type="dcterms:W3CDTF">2026-07-20T11:31:29Z</dcterms:created>
  <dcterms:modified xsi:type="dcterms:W3CDTF">2026-07-20T11:48:24Z</dcterms:modified>
</cp:coreProperties>
</file>