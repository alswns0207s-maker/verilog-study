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0" i="0">
                <a:solidFill>
                  <a:srgbClr val="8A8FA3"/>
                </a:solidFill>
                <a:latin typeface="Cambria"/>
                <a:ea typeface="Cambria"/>
                <a:cs typeface="Cambria"/>
              </a:rPr>
              <a:t>H W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Moore FSM </a:t>
            </a:r>
            <a:r>
              <a:rPr sz="4000" b="1" i="0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설계</a:t>
            </a:r>
            <a:r>
              <a:rPr sz="40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&amp; </a:t>
            </a:r>
            <a:r>
              <a:rPr sz="4000" b="1" i="0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시뮬레이션</a:t>
            </a:r>
            <a:endParaRPr sz="4000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724912"/>
            <a:ext cx="10607040" cy="4572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600" b="0" i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Basys-3 · 5-state LED controller · SW 3-bit 입력 / LED 3-bit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54864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2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이름    김민준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68112"/>
            <a:ext cx="54864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2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작성일    2026-07-23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15583"/>
            <a:ext cx="5486400" cy="320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2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version    vivado 2020.2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개요 · 목적과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365760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577840" cy="20116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00" b="0" i="0" dirty="0" err="1">
                <a:latin typeface="Calibri"/>
                <a:ea typeface="Calibri"/>
                <a:cs typeface="Calibri"/>
              </a:rPr>
              <a:t>오늘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배운</a:t>
            </a:r>
            <a:r>
              <a:rPr sz="1500" b="0" i="0" dirty="0">
                <a:latin typeface="Calibri"/>
                <a:ea typeface="Calibri"/>
                <a:cs typeface="Calibri"/>
              </a:rPr>
              <a:t> Moore machine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문법</a:t>
            </a:r>
            <a:r>
              <a:rPr sz="1500" b="0" i="0" dirty="0">
                <a:latin typeface="Calibri"/>
                <a:ea typeface="Calibri"/>
                <a:cs typeface="Calibri"/>
              </a:rPr>
              <a:t>(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레지스터</a:t>
            </a:r>
            <a:r>
              <a:rPr sz="1500" b="0" i="0" dirty="0">
                <a:latin typeface="Calibri"/>
                <a:ea typeface="Calibri"/>
                <a:cs typeface="Calibri"/>
              </a:rPr>
              <a:t> · next-state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조합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논리</a:t>
            </a:r>
            <a:r>
              <a:rPr sz="1500" b="0" i="0" dirty="0">
                <a:latin typeface="Calibri"/>
                <a:ea typeface="Calibri"/>
                <a:cs typeface="Calibri"/>
              </a:rPr>
              <a:t> · output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조합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논리</a:t>
            </a:r>
            <a:r>
              <a:rPr sz="1500" b="0" i="0" dirty="0">
                <a:latin typeface="Calibri"/>
                <a:ea typeface="Calibri"/>
                <a:cs typeface="Calibri"/>
              </a:rPr>
              <a:t>)을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기반으로</a:t>
            </a:r>
            <a:r>
              <a:rPr sz="1500" b="0" i="0" dirty="0">
                <a:latin typeface="Calibri"/>
                <a:ea typeface="Calibri"/>
                <a:cs typeface="Calibri"/>
              </a:rPr>
              <a:t> S0~S4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다섯</a:t>
            </a:r>
            <a:r>
              <a:rPr sz="1500" b="0" i="0" dirty="0">
                <a:latin typeface="Calibri"/>
                <a:ea typeface="Calibri"/>
                <a:cs typeface="Calibri"/>
              </a:rPr>
              <a:t> 개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갖는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FSM을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설계한다</a:t>
            </a:r>
            <a:r>
              <a:rPr sz="1500" b="0" i="0" dirty="0">
                <a:latin typeface="Calibri"/>
                <a:ea typeface="Calibri"/>
                <a:cs typeface="Calibri"/>
              </a:rPr>
              <a:t>. 3-bit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스위치</a:t>
            </a:r>
            <a:r>
              <a:rPr sz="1500" b="0" i="0" dirty="0">
                <a:latin typeface="Calibri"/>
                <a:ea typeface="Calibri"/>
                <a:cs typeface="Calibri"/>
              </a:rPr>
              <a:t>(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latin typeface="Calibri"/>
                <a:ea typeface="Calibri"/>
                <a:cs typeface="Calibri"/>
              </a:rPr>
              <a:t>)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입력으로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전이시키고</a:t>
            </a:r>
            <a:r>
              <a:rPr sz="1500" b="0" i="0" dirty="0">
                <a:latin typeface="Calibri"/>
                <a:ea typeface="Calibri"/>
                <a:cs typeface="Calibri"/>
              </a:rPr>
              <a:t>, 각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상태를</a:t>
            </a:r>
            <a:r>
              <a:rPr sz="1500" b="0" i="0" dirty="0">
                <a:latin typeface="Calibri"/>
                <a:ea typeface="Calibri"/>
                <a:cs typeface="Calibri"/>
              </a:rPr>
              <a:t> 3-bit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LED로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표시한다</a:t>
            </a:r>
            <a:r>
              <a:rPr sz="1500" b="0" i="0" dirty="0"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이후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테스트벤치로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시뮬레이션하여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전이와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출력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동작을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검증하는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것이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목적이다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11880"/>
            <a:ext cx="365760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결과 요약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39"/>
            <a:ext cx="5577840" cy="214884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동작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조건에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맞춰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S0→S1→S2→S3→S4→S0으로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순환하며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S0→S4(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=100)·S4→S1(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=001)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추가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분기를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포함한다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led는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현재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상태에만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의존하는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Moore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출력으로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시뮬레이션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파형에서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전이와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정확히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일치함을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확인했다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960120"/>
            <a:ext cx="512064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 dirty="0" err="1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신호</a:t>
            </a:r>
            <a:r>
              <a:rPr sz="1300" b="1" i="0" dirty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300" b="1" i="0" dirty="0" err="1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흐름</a:t>
            </a:r>
            <a:r>
              <a:rPr sz="1300" b="1" i="0" dirty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 (Moore </a:t>
            </a:r>
            <a:r>
              <a:rPr sz="1300" b="1" i="0" dirty="0" err="1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구조</a:t>
            </a:r>
            <a:r>
              <a:rPr sz="1300" b="1" i="0" dirty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)</a:t>
            </a:r>
          </a:p>
        </p:txBody>
      </p:sp>
      <p:pic>
        <p:nvPicPr>
          <p:cNvPr id="10" name="Picture 9" descr="fig_moo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49240" cy="20117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BAEE5-2BF2-5228-0447-5D6F5EB3B71E}"/>
              </a:ext>
            </a:extLst>
          </p:cNvPr>
          <p:cNvSpPr txBox="1"/>
          <p:nvPr/>
        </p:nvSpPr>
        <p:spPr>
          <a:xfrm>
            <a:off x="6355080" y="3429091"/>
            <a:ext cx="512064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lang="ko-KR" altLang="en-US" sz="1300" b="1" i="0" dirty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전체 </a:t>
            </a:r>
            <a:r>
              <a:rPr lang="en-US" altLang="ko-KR" sz="1300" b="1" i="0" dirty="0" err="1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schemetic</a:t>
            </a:r>
            <a:r>
              <a:rPr lang="ko-KR" altLang="en-US" sz="1300" b="1" i="0" dirty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구조</a:t>
            </a:r>
            <a:endParaRPr lang="en-US" altLang="ko-KR" sz="1300" b="1" i="0" dirty="0">
              <a:solidFill>
                <a:srgbClr val="3A468A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A89719D-36F6-4473-A2FF-9CF73AFE9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218" y="3769182"/>
            <a:ext cx="5577841" cy="25657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개요 · 설계 진행 절차 (Flow Chart)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Chevron 4"/>
          <p:cNvSpPr/>
          <p:nvPr/>
        </p:nvSpPr>
        <p:spPr>
          <a:xfrm>
            <a:off x="548640" y="2468880"/>
            <a:ext cx="1783080" cy="91440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스펙 정의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1874519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Chevron 6"/>
          <p:cNvSpPr/>
          <p:nvPr/>
        </p:nvSpPr>
        <p:spPr>
          <a:xfrm>
            <a:off x="2404872" y="2468880"/>
            <a:ext cx="1783080" cy="914400"/>
          </a:xfrm>
          <a:prstGeom prst="chevron">
            <a:avLst/>
          </a:prstGeom>
          <a:solidFill>
            <a:srgbClr val="3A4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상태 다이어그램</a:t>
            </a:r>
          </a:p>
        </p:txBody>
      </p:sp>
      <p:sp>
        <p:nvSpPr>
          <p:cNvPr id="8" name="Oval 7"/>
          <p:cNvSpPr/>
          <p:nvPr/>
        </p:nvSpPr>
        <p:spPr>
          <a:xfrm>
            <a:off x="3136391" y="1874519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9" name="Chevron 8"/>
          <p:cNvSpPr/>
          <p:nvPr/>
        </p:nvSpPr>
        <p:spPr>
          <a:xfrm>
            <a:off x="4261104" y="2468880"/>
            <a:ext cx="1783080" cy="91440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Next-state 논리</a:t>
            </a:r>
          </a:p>
        </p:txBody>
      </p:sp>
      <p:sp>
        <p:nvSpPr>
          <p:cNvPr id="10" name="Oval 9"/>
          <p:cNvSpPr/>
          <p:nvPr/>
        </p:nvSpPr>
        <p:spPr>
          <a:xfrm>
            <a:off x="4992624" y="1874519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1" name="Chevron 10"/>
          <p:cNvSpPr/>
          <p:nvPr/>
        </p:nvSpPr>
        <p:spPr>
          <a:xfrm>
            <a:off x="6117336" y="2468880"/>
            <a:ext cx="1783080" cy="914400"/>
          </a:xfrm>
          <a:prstGeom prst="chevron">
            <a:avLst/>
          </a:prstGeom>
          <a:solidFill>
            <a:srgbClr val="3A4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코드 구현</a:t>
            </a:r>
          </a:p>
        </p:txBody>
      </p:sp>
      <p:sp>
        <p:nvSpPr>
          <p:cNvPr id="12" name="Oval 11"/>
          <p:cNvSpPr/>
          <p:nvPr/>
        </p:nvSpPr>
        <p:spPr>
          <a:xfrm>
            <a:off x="6848856" y="1874519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Chevron 12"/>
          <p:cNvSpPr/>
          <p:nvPr/>
        </p:nvSpPr>
        <p:spPr>
          <a:xfrm>
            <a:off x="7973568" y="2468880"/>
            <a:ext cx="1783080" cy="91440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테스트벤치</a:t>
            </a:r>
          </a:p>
        </p:txBody>
      </p:sp>
      <p:sp>
        <p:nvSpPr>
          <p:cNvPr id="14" name="Oval 13"/>
          <p:cNvSpPr/>
          <p:nvPr/>
        </p:nvSpPr>
        <p:spPr>
          <a:xfrm>
            <a:off x="8705088" y="1874519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5" name="Chevron 14"/>
          <p:cNvSpPr/>
          <p:nvPr/>
        </p:nvSpPr>
        <p:spPr>
          <a:xfrm>
            <a:off x="9829800" y="2468880"/>
            <a:ext cx="1783080" cy="914400"/>
          </a:xfrm>
          <a:prstGeom prst="chevron">
            <a:avLst/>
          </a:prstGeom>
          <a:solidFill>
            <a:srgbClr val="3A4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시뮬레이션 검증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1874519"/>
            <a:ext cx="329184" cy="3291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11201400" cy="105156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설계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절차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스펙·상태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정의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→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전이도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작성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→ next-state / output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논리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도출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→ Verilog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구현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→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테스트벤치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작성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→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파형으로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검증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 각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단계를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순서대로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밟는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top-down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흐름으로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설계했으며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앞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단계가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확정되어야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다음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단계로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진행했다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입 · 출력 SPEC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548640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포트 정의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112692"/>
              </p:ext>
            </p:extLst>
          </p:nvPr>
        </p:nvGraphicFramePr>
        <p:xfrm>
          <a:off x="502920" y="1325880"/>
          <a:ext cx="5623560" cy="25054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5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7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신호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방향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비트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설명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clk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100 MHz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시스템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클럭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(10 ns)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reset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비동기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리셋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, S0으로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초기화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sw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상태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전이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조건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입력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led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output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현재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상태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표시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(Moore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출력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960120"/>
            <a:ext cx="530352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상태 인코딩 &amp; LED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873503"/>
              </p:ext>
            </p:extLst>
          </p:nvPr>
        </p:nvGraphicFramePr>
        <p:xfrm>
          <a:off x="6400800" y="1325880"/>
          <a:ext cx="530351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0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상태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인코딩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led[2:0]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불 켜짐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3'b000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000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없음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3'b001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001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LED0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S2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3'b010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010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LED1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S3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3'b011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011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LED1,0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S4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3'b100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100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LED2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80560"/>
            <a:ext cx="11201400" cy="105156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요점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5개이므로 3-bit로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인코딩하고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led는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상태값을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그대로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출력해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상태를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눈으로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구분한다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시뮬레이션에서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변경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주기는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20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ns로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두어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한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상태당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clk이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2번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뜨도록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했다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상태 다이어그램 (State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310896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전이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200400" cy="3931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순환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>
                <a:latin typeface="Calibri"/>
                <a:ea typeface="Calibri"/>
                <a:cs typeface="Calibri"/>
              </a:rPr>
              <a:t>S0→S1→S2→S3→S4→S0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진행</a:t>
            </a:r>
            <a:r>
              <a:rPr sz="1500" b="1" i="0" dirty="0"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조건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latin typeface="Calibri"/>
                <a:ea typeface="Calibri"/>
                <a:cs typeface="Calibri"/>
              </a:rPr>
              <a:t> = 001 / 010 / 011 / 100 / 111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추가</a:t>
            </a:r>
            <a:r>
              <a:rPr sz="1500" b="1" i="0" dirty="0"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분기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>
                <a:latin typeface="Calibri"/>
                <a:ea typeface="Calibri"/>
                <a:cs typeface="Calibri"/>
              </a:rPr>
              <a:t>S0→S4 (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latin typeface="Calibri"/>
                <a:ea typeface="Calibri"/>
                <a:cs typeface="Calibri"/>
              </a:rPr>
              <a:t>=100)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추가</a:t>
            </a:r>
            <a:r>
              <a:rPr sz="1500" b="1" i="0" dirty="0"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분기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>
                <a:latin typeface="Calibri"/>
                <a:ea typeface="Calibri"/>
                <a:cs typeface="Calibri"/>
              </a:rPr>
              <a:t>S4→S1 (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latin typeface="Calibri"/>
                <a:ea typeface="Calibri"/>
                <a:cs typeface="Calibri"/>
              </a:rPr>
              <a:t>=001)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불일치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현재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유지</a:t>
            </a:r>
            <a:r>
              <a:rPr sz="1500" b="0" i="0" dirty="0">
                <a:latin typeface="Calibri"/>
                <a:ea typeface="Calibri"/>
                <a:cs typeface="Calibri"/>
              </a:rPr>
              <a:t> (hold)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reset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무조건</a:t>
            </a:r>
            <a:r>
              <a:rPr sz="1500" b="0" i="0" dirty="0">
                <a:latin typeface="Calibri"/>
                <a:ea typeface="Calibri"/>
                <a:cs typeface="Calibri"/>
              </a:rPr>
              <a:t> S0으로</a:t>
            </a:r>
          </a:p>
        </p:txBody>
      </p:sp>
      <p:pic>
        <p:nvPicPr>
          <p:cNvPr id="7" name="Picture 6" descr="fig_stat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338" y="1051560"/>
            <a:ext cx="4690122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486400"/>
            <a:ext cx="11201400" cy="82296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빨간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화살표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(S0→S4, S4→S1)는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순환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외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추가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전이다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 S4는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=001이면 S1,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=111이면 S0으로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갈라진다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개념 설명 · Moore Machine 신호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>
        <p:nvPicPr>
          <p:cNvPr id="5" name="Picture 4" descr="fig_moo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501" y="960120"/>
            <a:ext cx="7172517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794760"/>
            <a:ext cx="11247120" cy="17373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입력</a:t>
            </a:r>
            <a:r>
              <a:rPr sz="1500" b="1" i="0" dirty="0">
                <a:latin typeface="Calibri"/>
                <a:ea typeface="Calibri"/>
                <a:cs typeface="Calibri"/>
              </a:rPr>
              <a:t> (input)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latin typeface="Calibri"/>
                <a:ea typeface="Calibri"/>
                <a:cs typeface="Calibri"/>
              </a:rPr>
              <a:t> —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바꾸는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조건</a:t>
            </a:r>
            <a:r>
              <a:rPr sz="1500" b="0" i="0" dirty="0">
                <a:latin typeface="Calibri"/>
                <a:ea typeface="Calibri"/>
                <a:cs typeface="Calibri"/>
              </a:rPr>
              <a:t>. clk ·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reset은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레지스터를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움직이는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제어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신호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피드백</a:t>
            </a:r>
            <a:r>
              <a:rPr sz="1500" b="1" i="0" dirty="0">
                <a:latin typeface="Calibri"/>
                <a:ea typeface="Calibri"/>
                <a:cs typeface="Calibri"/>
              </a:rPr>
              <a:t> (feedback)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current_state</a:t>
            </a:r>
            <a:r>
              <a:rPr sz="1500" b="0" i="0" dirty="0">
                <a:latin typeface="Calibri"/>
                <a:ea typeface="Calibri"/>
                <a:cs typeface="Calibri"/>
              </a:rPr>
              <a:t> —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레지스터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출력이</a:t>
            </a:r>
            <a:r>
              <a:rPr sz="1500" b="0" i="0" dirty="0">
                <a:latin typeface="Calibri"/>
                <a:ea typeface="Calibri"/>
                <a:cs typeface="Calibri"/>
              </a:rPr>
              <a:t> next-state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논리로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되돌아가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함께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다음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결정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출력</a:t>
            </a:r>
            <a:r>
              <a:rPr sz="1500" b="1" i="0" dirty="0">
                <a:latin typeface="Calibri"/>
                <a:ea typeface="Calibri"/>
                <a:cs typeface="Calibri"/>
              </a:rPr>
              <a:t> (output)  </a:t>
            </a:r>
            <a:r>
              <a:rPr sz="1500" b="0" i="0" dirty="0">
                <a:latin typeface="Calibri"/>
                <a:ea typeface="Calibri"/>
                <a:cs typeface="Calibri"/>
              </a:rPr>
              <a:t>led —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현재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latin typeface="Calibri"/>
                <a:ea typeface="Calibri"/>
                <a:cs typeface="Calibri"/>
              </a:rPr>
              <a:t>(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current_state</a:t>
            </a:r>
            <a:r>
              <a:rPr sz="1500" b="0" i="0" dirty="0">
                <a:latin typeface="Calibri"/>
                <a:ea typeface="Calibri"/>
                <a:cs typeface="Calibri"/>
              </a:rPr>
              <a:t>)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에만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의존하는</a:t>
            </a:r>
            <a:r>
              <a:rPr sz="1500" b="0" i="0" dirty="0">
                <a:latin typeface="Calibri"/>
                <a:ea typeface="Calibri"/>
                <a:cs typeface="Calibri"/>
              </a:rPr>
              <a:t> Moore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출력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23560"/>
            <a:ext cx="11201400" cy="77724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Moore vs Mealy 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Mealy였다면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출력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논리에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sw도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들어가지만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Moore는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current_state만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본다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그래서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clk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전에는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led가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바뀌지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않는다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개념 설명 · 조합 vs 순차 로직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5" name="Picture 4" descr="fig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577" y="960120"/>
            <a:ext cx="6888365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657600"/>
            <a:ext cx="11247120" cy="18288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next_state</a:t>
            </a:r>
            <a:r>
              <a:rPr sz="1500" b="1" i="0" dirty="0">
                <a:latin typeface="Calibri"/>
                <a:ea typeface="Calibri"/>
                <a:cs typeface="Calibri"/>
              </a:rPr>
              <a:t> (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조합</a:t>
            </a:r>
            <a:r>
              <a:rPr sz="1500" b="1" i="0" dirty="0">
                <a:latin typeface="Calibri"/>
                <a:ea typeface="Calibri"/>
                <a:cs typeface="Calibri"/>
              </a:rPr>
              <a:t>)  </a:t>
            </a:r>
            <a:r>
              <a:rPr sz="1500" b="0" i="0" dirty="0">
                <a:latin typeface="Calibri"/>
                <a:ea typeface="Calibri"/>
                <a:cs typeface="Calibri"/>
              </a:rPr>
              <a:t>always @(*) —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sw·current_state가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바뀌면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즉시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다시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계산된다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current_state</a:t>
            </a:r>
            <a:r>
              <a:rPr sz="1500" b="1" i="0" dirty="0">
                <a:latin typeface="Calibri"/>
                <a:ea typeface="Calibri"/>
                <a:cs typeface="Calibri"/>
              </a:rPr>
              <a:t> (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순차</a:t>
            </a:r>
            <a:r>
              <a:rPr sz="1500" b="1" i="0" dirty="0">
                <a:latin typeface="Calibri"/>
                <a:ea typeface="Calibri"/>
                <a:cs typeface="Calibri"/>
              </a:rPr>
              <a:t>)  </a:t>
            </a:r>
            <a:r>
              <a:rPr sz="1500" b="0" i="0" dirty="0">
                <a:latin typeface="Calibri"/>
                <a:ea typeface="Calibri"/>
                <a:cs typeface="Calibri"/>
              </a:rPr>
              <a:t>always @(posedge clk,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posedge</a:t>
            </a:r>
            <a:r>
              <a:rPr sz="1500" b="0" i="0" dirty="0">
                <a:latin typeface="Calibri"/>
                <a:ea typeface="Calibri"/>
                <a:cs typeface="Calibri"/>
              </a:rPr>
              <a:t> reset) — clk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상승엣지에서만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next_state를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저장한다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결과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바뀌어도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상태·led는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다음</a:t>
            </a:r>
            <a:r>
              <a:rPr sz="1500" b="0" i="0" dirty="0">
                <a:latin typeface="Calibri"/>
                <a:ea typeface="Calibri"/>
                <a:cs typeface="Calibri"/>
              </a:rPr>
              <a:t> clk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엣지에서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바뀐다</a:t>
            </a:r>
            <a:r>
              <a:rPr sz="1500" b="0" i="0" dirty="0">
                <a:latin typeface="Calibri"/>
                <a:ea typeface="Calibri"/>
                <a:cs typeface="Calibri"/>
              </a:rPr>
              <a:t> (약 1 clk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지연</a:t>
            </a:r>
            <a:r>
              <a:rPr sz="1500" b="0" i="0" dirty="0">
                <a:latin typeface="Calibri"/>
                <a:ea typeface="Calibri"/>
                <a:cs typeface="Calibri"/>
              </a:rPr>
              <a:t>).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latch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방지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모든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분기에</a:t>
            </a:r>
            <a:r>
              <a:rPr sz="1500" b="0" i="0" dirty="0">
                <a:latin typeface="Calibri"/>
                <a:ea typeface="Calibri"/>
                <a:cs typeface="Calibri"/>
              </a:rPr>
              <a:t> else /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default로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값을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지정한다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69280"/>
            <a:ext cx="11201400" cy="77724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설계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패턴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조합·순차를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always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블록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2개로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분리하는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것이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동기식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설계의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기본이며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덕분에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글리치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없이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clk에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맞춰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상태가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전이된다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코드 · State Register (순차 논리)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310896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구조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154680" cy="3931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비동기</a:t>
            </a:r>
            <a:r>
              <a:rPr sz="1500" b="0" i="0" dirty="0">
                <a:latin typeface="Calibri"/>
                <a:ea typeface="Calibri"/>
                <a:cs typeface="Calibri"/>
              </a:rPr>
              <a:t> reset, clk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상승엣지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동기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latin typeface="Calibri"/>
                <a:ea typeface="Calibri"/>
                <a:cs typeface="Calibri"/>
              </a:rPr>
              <a:t>reset=1 →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current_state를</a:t>
            </a:r>
            <a:r>
              <a:rPr sz="1500" b="0" i="0" dirty="0">
                <a:latin typeface="Calibri"/>
                <a:ea typeface="Calibri"/>
                <a:cs typeface="Calibri"/>
              </a:rPr>
              <a:t> S0로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초기화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latin typeface="Calibri"/>
                <a:ea typeface="Calibri"/>
                <a:cs typeface="Calibri"/>
              </a:rPr>
              <a:t>그 외 →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next_state를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current_state에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저장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기억하는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유일한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블록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current_state를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바꾸는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곳은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여기뿐</a:t>
            </a:r>
            <a:endParaRPr sz="1500" b="0" i="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4760" y="1024128"/>
            <a:ext cx="388620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코드 (state_register)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371600"/>
            <a:ext cx="3886200" cy="3931920"/>
          </a:xfrm>
          <a:prstGeom prst="rect">
            <a:avLst/>
          </a:prstGeom>
          <a:solidFill>
            <a:srgbClr val="12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22776" y="1463040"/>
            <a:ext cx="3666744" cy="3749039"/>
          </a:xfrm>
          <a:prstGeom prst="rect">
            <a:avLst/>
          </a:prstGeom>
          <a:noFill/>
        </p:spPr>
        <p:txBody>
          <a:bodyPr wrap="none" lIns="12700" tIns="12700" rIns="12700" bIns="1270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3B8"/>
                </a:solidFill>
                <a:latin typeface="Courier New"/>
                <a:ea typeface="Courier New"/>
                <a:cs typeface="Courier New"/>
              </a:rPr>
              <a:t>// state register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always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@(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posedge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clk,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 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posedge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reset)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begin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(reset)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current_state &lt;= s0;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current_state &lt;= next_state;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960120"/>
            <a:ext cx="3749039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타이밍</a:t>
            </a:r>
          </a:p>
        </p:txBody>
      </p:sp>
      <p:pic>
        <p:nvPicPr>
          <p:cNvPr id="11" name="Picture 10" descr="fig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1600"/>
            <a:ext cx="3886200" cy="14444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532120"/>
            <a:ext cx="11201400" cy="77724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핵심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next-state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논리는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값을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'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계산'만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하고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실제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저장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래치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)은 이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블록의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clk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엣지에서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일어난다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코드 · Next State Logic (조합 논리)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310896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구조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154680" cy="3931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latin typeface="Calibri"/>
                <a:ea typeface="Calibri"/>
                <a:cs typeface="Calibri"/>
              </a:rPr>
              <a:t>always @(*)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조합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논리</a:t>
            </a:r>
            <a:r>
              <a:rPr sz="1500" b="0" i="0" dirty="0">
                <a:latin typeface="Calibri"/>
                <a:ea typeface="Calibri"/>
                <a:cs typeface="Calibri"/>
              </a:rPr>
              <a:t>, case(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current_state</a:t>
            </a:r>
            <a:r>
              <a:rPr sz="1500" b="0" i="0" dirty="0">
                <a:latin typeface="Calibri"/>
                <a:ea typeface="Calibri"/>
                <a:cs typeface="Calibri"/>
              </a:rPr>
              <a:t>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latin typeface="Calibri"/>
                <a:ea typeface="Calibri"/>
                <a:cs typeface="Calibri"/>
              </a:rPr>
              <a:t>각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상태에서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다음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결정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모든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분기에</a:t>
            </a:r>
            <a:r>
              <a:rPr sz="1500" b="0" i="0" dirty="0">
                <a:latin typeface="Calibri"/>
                <a:ea typeface="Calibri"/>
                <a:cs typeface="Calibri"/>
              </a:rPr>
              <a:t> else / default → latch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방지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latin typeface="Calibri"/>
                <a:ea typeface="Calibri"/>
                <a:cs typeface="Calibri"/>
              </a:rPr>
              <a:t>S4는 001→S1, 111→S0 두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갈래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분기</a:t>
            </a:r>
            <a:endParaRPr sz="1500" b="0" i="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4760" y="1024128"/>
            <a:ext cx="420624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코드 (next_state)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371600"/>
            <a:ext cx="4206240" cy="4160520"/>
          </a:xfrm>
          <a:prstGeom prst="rect">
            <a:avLst/>
          </a:prstGeom>
          <a:solidFill>
            <a:srgbClr val="12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22776" y="1463040"/>
            <a:ext cx="3986783" cy="3977639"/>
          </a:xfrm>
          <a:prstGeom prst="rect">
            <a:avLst/>
          </a:prstGeom>
          <a:noFill/>
        </p:spPr>
        <p:txBody>
          <a:bodyPr wrap="none" lIns="12700" tIns="12700" rIns="12700" bIns="1270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3B8"/>
                </a:solidFill>
                <a:latin typeface="Courier New"/>
                <a:ea typeface="Courier New"/>
                <a:cs typeface="Courier New"/>
              </a:rPr>
              <a:t>// next state combinational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always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@(*)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begin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(current_state)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s0: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(sw==3'b001) next_state=s1;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(sw==3'b100) next_state=s4;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next_state=s0;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s1: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(sw==3'b010) next_state=s2;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next_state=s1;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s2: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(sw==3'b011) next_state=s3;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next_state=s2;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s3: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(sw==3'b100) next_state=s4;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next_state=s3;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s4: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(sw==3'b111) next_state=s0;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(sw==3'b001) next_state=s1;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next_state=s4;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default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: next_state=current_state;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endcase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960120"/>
            <a:ext cx="347472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대응 상태도</a:t>
            </a:r>
          </a:p>
        </p:txBody>
      </p:sp>
      <p:pic>
        <p:nvPicPr>
          <p:cNvPr id="11" name="Picture 10" descr="fig_stat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325880"/>
            <a:ext cx="3566160" cy="33025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623560"/>
            <a:ext cx="11201400" cy="77724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매칭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case의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각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항목이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상태도의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노드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if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조건이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화살표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전이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)에 1:1로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대응한다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코드 · Output Logic (Moore 출력)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310896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구조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154680" cy="39319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latin typeface="Calibri"/>
                <a:ea typeface="Calibri"/>
                <a:cs typeface="Calibri"/>
              </a:rPr>
              <a:t>always @(*) case(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current_state</a:t>
            </a:r>
            <a:r>
              <a:rPr sz="1500" b="0" i="0" dirty="0">
                <a:latin typeface="Calibri"/>
                <a:ea typeface="Calibri"/>
                <a:cs typeface="Calibri"/>
              </a:rPr>
              <a:t>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상태값을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그대로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led로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출력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latin typeface="Calibri"/>
                <a:ea typeface="Calibri"/>
                <a:cs typeface="Calibri"/>
              </a:rPr>
              <a:t>output reg [2:0] led 로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선언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default까지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지정해</a:t>
            </a:r>
            <a:r>
              <a:rPr sz="1500" b="0" i="0" dirty="0">
                <a:latin typeface="Calibri"/>
                <a:ea typeface="Calibri"/>
                <a:cs typeface="Calibri"/>
              </a:rPr>
              <a:t> latch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방지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아님</a:t>
            </a:r>
            <a:r>
              <a:rPr sz="1500" b="0" i="0" dirty="0">
                <a:latin typeface="Calibri"/>
                <a:ea typeface="Calibri"/>
                <a:cs typeface="Calibri"/>
              </a:rPr>
              <a:t> →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current_state에만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의존</a:t>
            </a:r>
            <a:endParaRPr sz="1500" b="0" i="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94760" y="1024128"/>
            <a:ext cx="3886200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코드 (output)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371600"/>
            <a:ext cx="3886200" cy="3931920"/>
          </a:xfrm>
          <a:prstGeom prst="rect">
            <a:avLst/>
          </a:prstGeom>
          <a:solidFill>
            <a:srgbClr val="12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22776" y="1463040"/>
            <a:ext cx="3666744" cy="3749039"/>
          </a:xfrm>
          <a:prstGeom prst="rect">
            <a:avLst/>
          </a:prstGeom>
          <a:noFill/>
        </p:spPr>
        <p:txBody>
          <a:bodyPr wrap="none" lIns="12700" tIns="12700" rIns="12700" bIns="12700" anchor="t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A93B8"/>
                </a:solidFill>
                <a:latin typeface="Courier New"/>
                <a:ea typeface="Courier New"/>
                <a:cs typeface="Courier New"/>
              </a:rPr>
              <a:t>// output combinational (Moore)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always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@(*)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begin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(current_state)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s0: led = 3'b000;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s1: led = 3'b001;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s2: led = 3'b010;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s3: led = 3'b011;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s4: led = 3'b100;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default</a:t>
            </a: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: led = 3'b000;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CEFFA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endcase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DB4E0"/>
                </a:solidFill>
                <a:latin typeface="Courier New"/>
                <a:ea typeface="Courier New"/>
                <a:cs typeface="Courier New"/>
              </a:rP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960120"/>
            <a:ext cx="3749039" cy="310896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300" b="1" i="0">
                <a:solidFill>
                  <a:srgbClr val="3A468A"/>
                </a:solidFill>
                <a:latin typeface="Cambria"/>
                <a:ea typeface="Cambria"/>
                <a:cs typeface="Cambria"/>
              </a:rPr>
              <a:t>상태 → LED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909560" y="1371600"/>
          <a:ext cx="3794760" cy="31272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38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상태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led[2:0]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불 켜짐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S0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000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없음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S1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001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LED0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S2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010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LED1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S3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011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LED1,0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S4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100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LED2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5532120"/>
            <a:ext cx="11201400" cy="777240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핵심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led는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sw가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아니라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current_state에만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의존한다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이것이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Moore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출력의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정의다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시뮬레이션 · 파형 ↔ 상태 매칭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1247120" cy="14630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자극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sw를</a:t>
            </a:r>
            <a:r>
              <a:rPr sz="1500" b="0" i="0" dirty="0">
                <a:latin typeface="Calibri"/>
                <a:ea typeface="Calibri"/>
                <a:cs typeface="Calibri"/>
              </a:rPr>
              <a:t> 20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ns마다</a:t>
            </a:r>
            <a:r>
              <a:rPr sz="1500" b="0" i="0" dirty="0">
                <a:latin typeface="Calibri"/>
                <a:ea typeface="Calibri"/>
                <a:cs typeface="Calibri"/>
              </a:rPr>
              <a:t> 0→1→2→3→4→7→1→2→3→4→0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순으로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인가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  <a:r>
              <a:rPr lang="en-US" sz="1500" b="0" i="0" dirty="0">
                <a:latin typeface="Calibri"/>
                <a:ea typeface="Calibri"/>
                <a:cs typeface="Calibri"/>
              </a:rPr>
              <a:t> </a:t>
            </a:r>
            <a:r>
              <a:rPr lang="ko-KR" altLang="en-US" sz="1500" b="0" i="0" dirty="0">
                <a:latin typeface="Calibri"/>
                <a:ea typeface="Calibri"/>
                <a:cs typeface="Calibri"/>
              </a:rPr>
              <a:t>빨간 화살표 </a:t>
            </a:r>
            <a:r>
              <a:rPr lang="en-US" altLang="ko-KR" sz="1500" b="0" i="0" dirty="0">
                <a:latin typeface="Calibri"/>
                <a:ea typeface="Calibri"/>
                <a:cs typeface="Calibri"/>
              </a:rPr>
              <a:t>positive edge</a:t>
            </a:r>
            <a:r>
              <a:rPr lang="ko-KR" altLang="en-US" sz="1500" b="0" i="0" dirty="0">
                <a:latin typeface="Calibri"/>
                <a:ea typeface="Calibri"/>
                <a:cs typeface="Calibri"/>
              </a:rPr>
              <a:t>에 따라서 </a:t>
            </a:r>
            <a:r>
              <a:rPr lang="en-US" altLang="ko-KR"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lang="ko-KR" altLang="en-US" sz="1500" b="0" i="0" dirty="0">
                <a:latin typeface="Calibri"/>
                <a:ea typeface="Calibri"/>
                <a:cs typeface="Calibri"/>
              </a:rPr>
              <a:t>입력이 출력으로 잘 </a:t>
            </a:r>
            <a:r>
              <a:rPr lang="en-US" altLang="ko-KR" sz="1500" b="0" i="0" dirty="0">
                <a:latin typeface="Calibri"/>
                <a:ea typeface="Calibri"/>
                <a:cs typeface="Calibri"/>
              </a:rPr>
              <a:t>	                         	</a:t>
            </a:r>
            <a:r>
              <a:rPr lang="ko-KR" altLang="en-US" sz="1500" b="0" i="0" dirty="0">
                <a:latin typeface="Calibri"/>
                <a:ea typeface="Calibri"/>
                <a:cs typeface="Calibri"/>
              </a:rPr>
              <a:t>전달되는 것을 볼 수 있다</a:t>
            </a:r>
            <a:r>
              <a:rPr lang="en-US" altLang="ko-KR" sz="1500" b="0" i="0" dirty="0">
                <a:latin typeface="Calibri"/>
                <a:ea typeface="Calibri"/>
                <a:cs typeface="Calibri"/>
              </a:rPr>
              <a:t>.</a:t>
            </a:r>
            <a:endParaRPr sz="1500" b="0" i="0" dirty="0">
              <a:latin typeface="Calibri"/>
              <a:ea typeface="Calibri"/>
              <a:cs typeface="Calibri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전이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state는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변경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다음</a:t>
            </a:r>
            <a:r>
              <a:rPr sz="1500" b="0" i="0" dirty="0">
                <a:latin typeface="Calibri"/>
                <a:ea typeface="Calibri"/>
                <a:cs typeface="Calibri"/>
              </a:rPr>
              <a:t> clk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엣지에서</a:t>
            </a:r>
            <a:r>
              <a:rPr sz="1500" b="0" i="0" dirty="0">
                <a:latin typeface="Calibri"/>
                <a:ea typeface="Calibri"/>
                <a:cs typeface="Calibri"/>
              </a:rPr>
              <a:t> S0→S1→…→S4로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전이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</a:t>
            </a:r>
            <a:r>
              <a:rPr sz="1500" b="1" i="0" dirty="0" err="1">
                <a:latin typeface="Calibri"/>
                <a:ea typeface="Calibri"/>
                <a:cs typeface="Calibri"/>
              </a:rPr>
              <a:t>출력</a:t>
            </a:r>
            <a:r>
              <a:rPr sz="1500" b="1" i="0" dirty="0">
                <a:latin typeface="Calibri"/>
                <a:ea typeface="Calibri"/>
                <a:cs typeface="Calibri"/>
              </a:rPr>
              <a:t>  </a:t>
            </a:r>
            <a:r>
              <a:rPr sz="1500" b="0" i="0" dirty="0">
                <a:latin typeface="Calibri"/>
                <a:ea typeface="Calibri"/>
                <a:cs typeface="Calibri"/>
              </a:rPr>
              <a:t>led =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상태값</a:t>
            </a:r>
            <a:r>
              <a:rPr sz="1500" b="0" i="0" dirty="0"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state를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그대로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따라감</a:t>
            </a:r>
            <a:r>
              <a:rPr sz="1500" b="0" i="0" dirty="0">
                <a:latin typeface="Calibri"/>
                <a:ea typeface="Calibri"/>
                <a:cs typeface="Calibri"/>
              </a:rPr>
              <a:t> (Moore, 한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스텝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지연</a:t>
            </a:r>
            <a:r>
              <a:rPr sz="1500" b="0" i="0" dirty="0">
                <a:latin typeface="Calibri"/>
                <a:ea typeface="Calibri"/>
                <a:cs typeface="Calibri"/>
              </a:rPr>
              <a:t>).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latin typeface="Calibri"/>
                <a:ea typeface="Calibri"/>
                <a:cs typeface="Calibri"/>
              </a:rPr>
              <a:t>•  hold 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마지막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latin typeface="Calibri"/>
                <a:ea typeface="Calibri"/>
                <a:cs typeface="Calibri"/>
              </a:rPr>
              <a:t>=0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구간</a:t>
            </a:r>
            <a:r>
              <a:rPr sz="1500" b="0" i="0" dirty="0">
                <a:latin typeface="Calibri"/>
                <a:ea typeface="Calibri"/>
                <a:cs typeface="Calibri"/>
              </a:rPr>
              <a:t>: S4에서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조건</a:t>
            </a:r>
            <a:r>
              <a:rPr sz="1500" b="0" i="0" dirty="0"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불일치</a:t>
            </a:r>
            <a:r>
              <a:rPr sz="1500" b="0" i="0" dirty="0">
                <a:latin typeface="Calibri"/>
                <a:ea typeface="Calibri"/>
                <a:cs typeface="Calibri"/>
              </a:rPr>
              <a:t> → led=4로 </a:t>
            </a:r>
            <a:r>
              <a:rPr sz="1500" b="0" i="0" dirty="0" err="1">
                <a:latin typeface="Calibri"/>
                <a:ea typeface="Calibri"/>
                <a:cs typeface="Calibri"/>
              </a:rPr>
              <a:t>유지</a:t>
            </a:r>
            <a:r>
              <a:rPr sz="1500" b="0" i="0" dirty="0"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43600"/>
            <a:ext cx="11201400" cy="658368"/>
          </a:xfrm>
          <a:prstGeom prst="roundRect">
            <a:avLst/>
          </a:prstGeom>
          <a:solidFill>
            <a:srgbClr val="E8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0800" rIns="182880" bIns="50800" rtlCol="0" anchor="ctr"/>
          <a:lstStyle/>
          <a:p>
            <a:pPr algn="ctr">
              <a:lnSpc>
                <a:spcPct val="108000"/>
              </a:lnSpc>
            </a:pPr>
            <a:r>
              <a:rPr sz="1500" b="1" i="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확인</a:t>
            </a:r>
            <a:r>
              <a:rPr sz="1500" b="1" i="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파형의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각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구간이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상태도의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노드·화살표와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1:1로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일치하며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led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지연은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순차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논리의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정상</a:t>
            </a:r>
            <a:r>
              <a:rPr sz="1500" b="0" i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동작이다</a:t>
            </a:r>
            <a:r>
              <a:rPr sz="1500" b="0" i="0" dirty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731F65F-198B-1087-A357-C7EDCFBA0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0325501" cy="246888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3D16A59-FC70-F939-E3B6-8B169EA7653B}"/>
              </a:ext>
            </a:extLst>
          </p:cNvPr>
          <p:cNvCxnSpPr/>
          <p:nvPr/>
        </p:nvCxnSpPr>
        <p:spPr>
          <a:xfrm>
            <a:off x="3532909" y="82296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A047141-35D9-5D5E-FC9E-2FBCC14FB065}"/>
              </a:ext>
            </a:extLst>
          </p:cNvPr>
          <p:cNvCxnSpPr/>
          <p:nvPr/>
        </p:nvCxnSpPr>
        <p:spPr>
          <a:xfrm>
            <a:off x="4256809" y="82296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05DFE23-28C5-95FD-0A73-338E1D53F1CA}"/>
              </a:ext>
            </a:extLst>
          </p:cNvPr>
          <p:cNvCxnSpPr/>
          <p:nvPr/>
        </p:nvCxnSpPr>
        <p:spPr>
          <a:xfrm>
            <a:off x="4999759" y="82296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1EF8CC8-75CA-203C-2C02-121B54C62588}"/>
              </a:ext>
            </a:extLst>
          </p:cNvPr>
          <p:cNvCxnSpPr/>
          <p:nvPr/>
        </p:nvCxnSpPr>
        <p:spPr>
          <a:xfrm>
            <a:off x="5761759" y="86106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B6D1A09-CEE6-598B-9343-15F4A8AC168A}"/>
              </a:ext>
            </a:extLst>
          </p:cNvPr>
          <p:cNvCxnSpPr/>
          <p:nvPr/>
        </p:nvCxnSpPr>
        <p:spPr>
          <a:xfrm>
            <a:off x="6504709" y="86106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A2B5325-40E7-C493-4AAC-91FB2A4B3C23}"/>
              </a:ext>
            </a:extLst>
          </p:cNvPr>
          <p:cNvCxnSpPr/>
          <p:nvPr/>
        </p:nvCxnSpPr>
        <p:spPr>
          <a:xfrm>
            <a:off x="7247659" y="84201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EA887C2-9038-20DF-27DD-D4D95E4F1EF0}"/>
              </a:ext>
            </a:extLst>
          </p:cNvPr>
          <p:cNvCxnSpPr/>
          <p:nvPr/>
        </p:nvCxnSpPr>
        <p:spPr>
          <a:xfrm>
            <a:off x="7990609" y="84201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B5BC14F-AE19-E018-B046-54D44D2CA307}"/>
              </a:ext>
            </a:extLst>
          </p:cNvPr>
          <p:cNvCxnSpPr/>
          <p:nvPr/>
        </p:nvCxnSpPr>
        <p:spPr>
          <a:xfrm>
            <a:off x="8743084" y="84201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BF1C667-533F-CE34-CC8F-65FDC661EC18}"/>
              </a:ext>
            </a:extLst>
          </p:cNvPr>
          <p:cNvCxnSpPr/>
          <p:nvPr/>
        </p:nvCxnSpPr>
        <p:spPr>
          <a:xfrm>
            <a:off x="9486034" y="84201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6A034F9-E2DD-6CA7-A948-B49D26E352C3}"/>
              </a:ext>
            </a:extLst>
          </p:cNvPr>
          <p:cNvCxnSpPr/>
          <p:nvPr/>
        </p:nvCxnSpPr>
        <p:spPr>
          <a:xfrm>
            <a:off x="10209934" y="822960"/>
            <a:ext cx="0" cy="3222567"/>
          </a:xfrm>
          <a:prstGeom prst="straightConnector1">
            <a:avLst/>
          </a:prstGeom>
          <a:ln>
            <a:solidFill>
              <a:srgbClr val="EE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400" b="1" i="0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Trouble 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685800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HW5 · Moore FSM (S0~S4) 설계 &amp; 시뮬레이션 · 김민준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339900"/>
              </p:ext>
            </p:extLst>
          </p:nvPr>
        </p:nvGraphicFramePr>
        <p:xfrm>
          <a:off x="502920" y="1051560"/>
          <a:ext cx="11201397" cy="4407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4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2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6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문제 상황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원인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해결</a:t>
                      </a:r>
                    </a:p>
                  </a:txBody>
                  <a:tcPr marL="73152" marR="54864" marT="25400" marB="254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parameter s1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중복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선언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, s2~s4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미선언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상태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이름을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모두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s1로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복사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s2/s3/s4로 수정해 5개 상태 인코딩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상태값이 잘려 전이 오동작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current/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next_state를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1-bit로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선언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reg [2:0]로 폭 확장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led 대입 시 컴파일 에러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always에서 대입하는데 led가 wire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output reg [2:0] led 로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선언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조건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불일치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시 latch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발생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s0 분기에 else 누락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모든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분기에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else + case default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추가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begin/end · endcase 짝 오류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case를 begin으로 감싸고 end 오배치</a:t>
                      </a: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case 뒤 begin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제거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,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endcase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뒤 end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정리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세미콜론 · led 폭 오류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3'b100 뒤 ; 누락</a:t>
                      </a: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세미콜론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보완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, 3-bit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led로</a:t>
                      </a:r>
                      <a:r>
                        <a:rPr sz="13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확정</a:t>
                      </a:r>
                      <a:endParaRPr sz="1300" b="0" i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241280" cy="64008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결론 및 고찰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36576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500" b="1" i="0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오늘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배운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Moore machine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구조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레지스터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· next-state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조합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논리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· output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조합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논리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)를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그대로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적용해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S0~S4 5-상태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FSM을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설계하고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20 ns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주기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sw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입력으로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시뮬레이션하여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상태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전이와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led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출력이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상태도와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일치함을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확인했다</a:t>
            </a:r>
            <a:r>
              <a:rPr sz="15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3657600" cy="36576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r>
              <a:rPr sz="1500" b="1" i="0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고찰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607040" cy="21031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solidFill>
                  <a:srgbClr val="3A468A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else / default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누락이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latch를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만든다는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점을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디버깅으로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체득했다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조합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논리는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모든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경로에서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값을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지정해야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한다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solidFill>
                  <a:srgbClr val="3A468A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오류의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대부분은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begin/end ·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endcase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짝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맞추기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같은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문법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문제였고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컴파일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에러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메시지로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위치를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좁혀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해결했다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solidFill>
                  <a:srgbClr val="3A468A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Moore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출력이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sw가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아닌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current_state에만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의존하기에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led가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clk 한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박자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뒤에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바뀐다는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순차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동작을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파형으로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확인했다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i="0" dirty="0">
                <a:solidFill>
                  <a:srgbClr val="3A468A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timescale(1ns/1ps)과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실제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클럭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주기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(10ns=100MHz)는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서로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다른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개념임을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구분하게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되었다</a:t>
            </a:r>
            <a:r>
              <a:rPr sz="1500" b="0" i="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</p:spPr>
        <p:txBody>
          <a:bodyPr wrap="square" lIns="12700" tIns="12700" rIns="12700" bIns="12700" anchor="t">
            <a:noAutofit/>
          </a:bodyPr>
          <a:lstStyle/>
          <a:p>
            <a:pPr algn="r"/>
            <a:r>
              <a:rPr sz="1000" b="0" i="0">
                <a:solidFill>
                  <a:srgbClr val="8A8FA3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1745</Words>
  <Application>Microsoft Office PowerPoint</Application>
  <PresentationFormat>와이드스크린</PresentationFormat>
  <Paragraphs>257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2026-07-23T13:25:31Z</dcterms:modified>
  <cp:category/>
</cp:coreProperties>
</file>